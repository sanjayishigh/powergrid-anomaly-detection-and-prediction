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12192000" cy="6858000"/>
  <p:embeddedFontLs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883D0A-D20E-428C-BD2B-D7B14EC3995A}">
  <a:tblStyle styleId="{A7883D0A-D20E-428C-BD2B-D7B14EC3995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9B65767-FECF-45E2-A766-967CE181A3B7}"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Mon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ae8f18b16_0_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bae8f18b16_0_13: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ae8f18b16_3_2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3bae8f18b16_3_2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ae8f18b16_3_3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bae8f18b16_3_33: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ae8f18b16_3_3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bae8f18b16_3_3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ae8f18b16_3_14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bae8f18b16_3_14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ae8f18b16_3_9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bae8f18b16_3_9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ae8f18b16_3_6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bae8f18b16_3_6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ae8f18b16_3_6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3bae8f18b16_3_6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ae8f18b16_3_5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bae8f18b16_3_53: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ae8f18b16_3_1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bae8f18b16_3_117: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ae8f18b16_3_1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bae8f18b16_3_11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ae8f18b16_3_12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bae8f18b16_3_12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3281300" y="377502"/>
            <a:ext cx="5297170" cy="89610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644208" y="2385439"/>
            <a:ext cx="11059795" cy="268986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9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 name="Shape 18"/>
        <p:cNvGrpSpPr/>
        <p:nvPr/>
      </p:nvGrpSpPr>
      <p:grpSpPr>
        <a:xfrm>
          <a:off x="0" y="0"/>
          <a:ext cx="0" cy="0"/>
          <a:chOff x="0" y="0"/>
          <a:chExt cx="0" cy="0"/>
        </a:xfrm>
      </p:grpSpPr>
      <p:sp>
        <p:nvSpPr>
          <p:cNvPr id="19" name="Google Shape;19;p3"/>
          <p:cNvSpPr txBox="1"/>
          <p:nvPr>
            <p:ph type="title"/>
          </p:nvPr>
        </p:nvSpPr>
        <p:spPr>
          <a:xfrm>
            <a:off x="3281300" y="377502"/>
            <a:ext cx="5297170" cy="89610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 name="Shape 23"/>
        <p:cNvGrpSpPr/>
        <p:nvPr/>
      </p:nvGrpSpPr>
      <p:grpSpPr>
        <a:xfrm>
          <a:off x="0" y="0"/>
          <a:ext cx="0" cy="0"/>
          <a:chOff x="0" y="0"/>
          <a:chExt cx="0" cy="0"/>
        </a:xfrm>
      </p:grpSpPr>
      <p:sp>
        <p:nvSpPr>
          <p:cNvPr id="24" name="Google Shape;24;p4"/>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9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9" name="Shape 29"/>
        <p:cNvGrpSpPr/>
        <p:nvPr/>
      </p:nvGrpSpPr>
      <p:grpSpPr>
        <a:xfrm>
          <a:off x="0" y="0"/>
          <a:ext cx="0" cy="0"/>
          <a:chOff x="0" y="0"/>
          <a:chExt cx="0" cy="0"/>
        </a:xfrm>
      </p:grpSpPr>
      <p:sp>
        <p:nvSpPr>
          <p:cNvPr id="30" name="Google Shape;30;p5"/>
          <p:cNvSpPr txBox="1"/>
          <p:nvPr>
            <p:ph type="title"/>
          </p:nvPr>
        </p:nvSpPr>
        <p:spPr>
          <a:xfrm>
            <a:off x="3281300" y="377502"/>
            <a:ext cx="5297170" cy="89610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1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5"/>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312115" y="0"/>
            <a:ext cx="11879884" cy="5814179"/>
          </a:xfrm>
          <a:prstGeom prst="rect">
            <a:avLst/>
          </a:prstGeom>
          <a:noFill/>
          <a:ln>
            <a:noFill/>
          </a:ln>
        </p:spPr>
      </p:pic>
      <p:sp>
        <p:nvSpPr>
          <p:cNvPr id="7" name="Google Shape;7;p1"/>
          <p:cNvSpPr txBox="1"/>
          <p:nvPr>
            <p:ph type="title"/>
          </p:nvPr>
        </p:nvSpPr>
        <p:spPr>
          <a:xfrm>
            <a:off x="3281300" y="377502"/>
            <a:ext cx="5297170" cy="89610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1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644208" y="2385439"/>
            <a:ext cx="11059795" cy="268986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9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7"/>
          <p:cNvSpPr txBox="1"/>
          <p:nvPr/>
        </p:nvSpPr>
        <p:spPr>
          <a:xfrm>
            <a:off x="4592925" y="823100"/>
            <a:ext cx="2456100" cy="869700"/>
          </a:xfrm>
          <a:prstGeom prst="rect">
            <a:avLst/>
          </a:prstGeom>
          <a:solidFill>
            <a:srgbClr val="FFFFFF"/>
          </a:solidFill>
          <a:ln>
            <a:noFill/>
          </a:ln>
        </p:spPr>
        <p:txBody>
          <a:bodyPr anchorCtr="0" anchor="t" bIns="0" lIns="0" spcFirstLastPara="1" rIns="0" wrap="square" tIns="0">
            <a:spAutoFit/>
          </a:bodyPr>
          <a:lstStyle/>
          <a:p>
            <a:pPr indent="0" lvl="0" marL="0" rtl="0" algn="l">
              <a:lnSpc>
                <a:spcPct val="116078"/>
              </a:lnSpc>
              <a:spcBef>
                <a:spcPts val="0"/>
              </a:spcBef>
              <a:spcAft>
                <a:spcPts val="0"/>
              </a:spcAft>
              <a:buNone/>
            </a:pPr>
            <a:r>
              <a:rPr b="1" lang="en-US" sz="5650">
                <a:solidFill>
                  <a:srgbClr val="833C0B"/>
                </a:solidFill>
                <a:latin typeface="Times New Roman"/>
                <a:ea typeface="Times New Roman"/>
                <a:cs typeface="Times New Roman"/>
                <a:sym typeface="Times New Roman"/>
              </a:rPr>
              <a:t>SDG-11</a:t>
            </a:r>
            <a:endParaRPr sz="5650">
              <a:latin typeface="Times New Roman"/>
              <a:ea typeface="Times New Roman"/>
              <a:cs typeface="Times New Roman"/>
              <a:sym typeface="Times New Roman"/>
            </a:endParaRPr>
          </a:p>
        </p:txBody>
      </p:sp>
      <p:sp>
        <p:nvSpPr>
          <p:cNvPr id="45" name="Google Shape;45;p7"/>
          <p:cNvSpPr txBox="1"/>
          <p:nvPr/>
        </p:nvSpPr>
        <p:spPr>
          <a:xfrm>
            <a:off x="5370063" y="3505640"/>
            <a:ext cx="1577400" cy="3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000">
                <a:latin typeface="Arial"/>
                <a:ea typeface="Arial"/>
                <a:cs typeface="Arial"/>
                <a:sym typeface="Arial"/>
              </a:rPr>
              <a:t>Submitted by:</a:t>
            </a:r>
            <a:endParaRPr sz="2000">
              <a:latin typeface="Arial"/>
              <a:ea typeface="Arial"/>
              <a:cs typeface="Arial"/>
              <a:sym typeface="Arial"/>
            </a:endParaRPr>
          </a:p>
        </p:txBody>
      </p:sp>
      <p:sp>
        <p:nvSpPr>
          <p:cNvPr id="46" name="Google Shape;46;p7"/>
          <p:cNvSpPr txBox="1"/>
          <p:nvPr/>
        </p:nvSpPr>
        <p:spPr>
          <a:xfrm>
            <a:off x="1049275" y="2284975"/>
            <a:ext cx="9611400" cy="782400"/>
          </a:xfrm>
          <a:prstGeom prst="rect">
            <a:avLst/>
          </a:prstGeom>
          <a:noFill/>
          <a:ln>
            <a:noFill/>
          </a:ln>
        </p:spPr>
        <p:txBody>
          <a:bodyPr anchorCtr="0" anchor="t" bIns="0" lIns="0" spcFirstLastPara="1" rIns="0" wrap="square" tIns="12700">
            <a:spAutoFit/>
          </a:bodyPr>
          <a:lstStyle/>
          <a:p>
            <a:pPr indent="0" lvl="0" marL="0" rtl="0" algn="ctr">
              <a:spcBef>
                <a:spcPts val="0"/>
              </a:spcBef>
              <a:spcAft>
                <a:spcPts val="0"/>
              </a:spcAft>
              <a:buClr>
                <a:schemeClr val="dk1"/>
              </a:buClr>
              <a:buSzPts val="1100"/>
              <a:buFont typeface="Arial"/>
              <a:buNone/>
            </a:pPr>
            <a:r>
              <a:rPr b="1" lang="en-US" sz="2500">
                <a:solidFill>
                  <a:schemeClr val="dk1"/>
                </a:solidFill>
                <a:latin typeface="Bookman Old Style"/>
                <a:ea typeface="Bookman Old Style"/>
                <a:cs typeface="Bookman Old Style"/>
                <a:sym typeface="Bookman Old Style"/>
              </a:rPr>
              <a:t>Power Grid Anomaly Detection and Prediction of Physical and Cyber Attacks</a:t>
            </a:r>
            <a:endParaRPr sz="3500">
              <a:solidFill>
                <a:schemeClr val="dk1"/>
              </a:solidFill>
              <a:latin typeface="Times New Roman"/>
              <a:ea typeface="Times New Roman"/>
              <a:cs typeface="Times New Roman"/>
              <a:sym typeface="Times New Roman"/>
            </a:endParaRPr>
          </a:p>
        </p:txBody>
      </p:sp>
      <p:graphicFrame>
        <p:nvGraphicFramePr>
          <p:cNvPr id="47" name="Google Shape;47;p7"/>
          <p:cNvGraphicFramePr/>
          <p:nvPr/>
        </p:nvGraphicFramePr>
        <p:xfrm>
          <a:off x="1015275" y="4090050"/>
          <a:ext cx="3000000" cy="3000000"/>
        </p:xfrm>
        <a:graphic>
          <a:graphicData uri="http://schemas.openxmlformats.org/drawingml/2006/table">
            <a:tbl>
              <a:tblPr>
                <a:noFill/>
                <a:tableStyleId>{A7883D0A-D20E-428C-BD2B-D7B14EC3995A}</a:tableStyleId>
              </a:tblPr>
              <a:tblGrid>
                <a:gridCol w="4839700"/>
                <a:gridCol w="4839700"/>
              </a:tblGrid>
              <a:tr h="381000">
                <a:tc>
                  <a:txBody>
                    <a:bodyPr/>
                    <a:lstStyle/>
                    <a:p>
                      <a:pPr indent="0" lvl="0" marL="0" rtl="0" algn="ctr">
                        <a:spcBef>
                          <a:spcPts val="0"/>
                        </a:spcBef>
                        <a:spcAft>
                          <a:spcPts val="0"/>
                        </a:spcAft>
                        <a:buNone/>
                      </a:pPr>
                      <a:r>
                        <a:rPr b="1" lang="en-US"/>
                        <a:t>NAME</a:t>
                      </a:r>
                      <a:endParaRPr b="1"/>
                    </a:p>
                  </a:txBody>
                  <a:tcPr marT="91425" marB="91425" marR="91425" marL="91425">
                    <a:noFill/>
                  </a:tcPr>
                </a:tc>
                <a:tc>
                  <a:txBody>
                    <a:bodyPr/>
                    <a:lstStyle/>
                    <a:p>
                      <a:pPr indent="0" lvl="0" marL="0" rtl="0" algn="ctr">
                        <a:spcBef>
                          <a:spcPts val="0"/>
                        </a:spcBef>
                        <a:spcAft>
                          <a:spcPts val="0"/>
                        </a:spcAft>
                        <a:buNone/>
                      </a:pPr>
                      <a:r>
                        <a:rPr b="1" lang="en-US"/>
                        <a:t>USN</a:t>
                      </a:r>
                      <a:endParaRPr b="1"/>
                    </a:p>
                  </a:txBody>
                  <a:tcPr marT="91425" marB="91425" marR="91425" marL="91425">
                    <a:noFill/>
                  </a:tcPr>
                </a:tc>
              </a:tr>
              <a:tr h="381000">
                <a:tc>
                  <a:txBody>
                    <a:bodyPr/>
                    <a:lstStyle/>
                    <a:p>
                      <a:pPr indent="0" lvl="0" marL="0" rtl="0" algn="ctr">
                        <a:spcBef>
                          <a:spcPts val="0"/>
                        </a:spcBef>
                        <a:spcAft>
                          <a:spcPts val="0"/>
                        </a:spcAft>
                        <a:buNone/>
                      </a:pPr>
                      <a:r>
                        <a:rPr lang="en-US"/>
                        <a:t>Sanjay CM</a:t>
                      </a:r>
                      <a:endParaRPr/>
                    </a:p>
                  </a:txBody>
                  <a:tcPr marT="91425" marB="91425" marR="91425" marL="91425">
                    <a:noFill/>
                  </a:tcPr>
                </a:tc>
                <a:tc>
                  <a:txBody>
                    <a:bodyPr/>
                    <a:lstStyle/>
                    <a:p>
                      <a:pPr indent="0" lvl="0" marL="0" rtl="0" algn="ctr">
                        <a:spcBef>
                          <a:spcPts val="0"/>
                        </a:spcBef>
                        <a:spcAft>
                          <a:spcPts val="0"/>
                        </a:spcAft>
                        <a:buNone/>
                      </a:pPr>
                      <a:r>
                        <a:rPr lang="en-US"/>
                        <a:t>1RV23ET039</a:t>
                      </a:r>
                      <a:endParaRPr/>
                    </a:p>
                  </a:txBody>
                  <a:tcPr marT="91425" marB="91425" marR="91425" marL="91425">
                    <a:noFill/>
                  </a:tcPr>
                </a:tc>
              </a:tr>
              <a:tr h="381000">
                <a:tc>
                  <a:txBody>
                    <a:bodyPr/>
                    <a:lstStyle/>
                    <a:p>
                      <a:pPr indent="0" lvl="0" marL="0" rtl="0" algn="ctr">
                        <a:spcBef>
                          <a:spcPts val="0"/>
                        </a:spcBef>
                        <a:spcAft>
                          <a:spcPts val="0"/>
                        </a:spcAft>
                        <a:buNone/>
                      </a:pPr>
                      <a:r>
                        <a:rPr lang="en-US"/>
                        <a:t>Siddhant Shah</a:t>
                      </a:r>
                      <a:endParaRPr/>
                    </a:p>
                  </a:txBody>
                  <a:tcPr marT="91425" marB="91425" marR="91425" marL="91425">
                    <a:noFill/>
                  </a:tcPr>
                </a:tc>
                <a:tc>
                  <a:txBody>
                    <a:bodyPr/>
                    <a:lstStyle/>
                    <a:p>
                      <a:pPr indent="0" lvl="0" marL="0" rtl="0" algn="ctr">
                        <a:spcBef>
                          <a:spcPts val="0"/>
                        </a:spcBef>
                        <a:spcAft>
                          <a:spcPts val="0"/>
                        </a:spcAft>
                        <a:buNone/>
                      </a:pPr>
                      <a:r>
                        <a:rPr lang="en-US"/>
                        <a:t>1RV23EI066</a:t>
                      </a:r>
                      <a:endParaRPr/>
                    </a:p>
                  </a:txBody>
                  <a:tcPr marT="91425" marB="91425" marR="91425" marL="91425">
                    <a:noFill/>
                  </a:tcPr>
                </a:tc>
              </a:tr>
              <a:tr h="381000">
                <a:tc>
                  <a:txBody>
                    <a:bodyPr/>
                    <a:lstStyle/>
                    <a:p>
                      <a:pPr indent="0" lvl="0" marL="0" rtl="0" algn="ctr">
                        <a:spcBef>
                          <a:spcPts val="0"/>
                        </a:spcBef>
                        <a:spcAft>
                          <a:spcPts val="0"/>
                        </a:spcAft>
                        <a:buNone/>
                      </a:pPr>
                      <a:r>
                        <a:rPr lang="en-US"/>
                        <a:t>Abu Arshian</a:t>
                      </a:r>
                      <a:endParaRPr/>
                    </a:p>
                  </a:txBody>
                  <a:tcPr marT="91425" marB="91425" marR="91425" marL="91425">
                    <a:noFill/>
                  </a:tcPr>
                </a:tc>
                <a:tc>
                  <a:txBody>
                    <a:bodyPr/>
                    <a:lstStyle/>
                    <a:p>
                      <a:pPr indent="0" lvl="0" marL="0" rtl="0" algn="ctr">
                        <a:spcBef>
                          <a:spcPts val="0"/>
                        </a:spcBef>
                        <a:spcAft>
                          <a:spcPts val="0"/>
                        </a:spcAft>
                        <a:buNone/>
                      </a:pPr>
                      <a:r>
                        <a:rPr lang="en-US"/>
                        <a:t>1RV23EC005</a:t>
                      </a:r>
                      <a:endParaRPr/>
                    </a:p>
                  </a:txBody>
                  <a:tcPr marT="91425" marB="91425" marR="91425" marL="91425">
                    <a:noFill/>
                  </a:tcPr>
                </a:tc>
              </a:tr>
              <a:tr h="381000">
                <a:tc>
                  <a:txBody>
                    <a:bodyPr/>
                    <a:lstStyle/>
                    <a:p>
                      <a:pPr indent="0" lvl="0" marL="0" rtl="0" algn="ctr">
                        <a:spcBef>
                          <a:spcPts val="0"/>
                        </a:spcBef>
                        <a:spcAft>
                          <a:spcPts val="0"/>
                        </a:spcAft>
                        <a:buNone/>
                      </a:pPr>
                      <a:r>
                        <a:rPr lang="en-US"/>
                        <a:t>Satkrit Samyaan</a:t>
                      </a:r>
                      <a:endParaRPr/>
                    </a:p>
                  </a:txBody>
                  <a:tcPr marT="91425" marB="91425" marR="91425" marL="91425">
                    <a:noFill/>
                  </a:tcPr>
                </a:tc>
                <a:tc>
                  <a:txBody>
                    <a:bodyPr/>
                    <a:lstStyle/>
                    <a:p>
                      <a:pPr indent="0" lvl="0" marL="0" rtl="0" algn="ctr">
                        <a:spcBef>
                          <a:spcPts val="0"/>
                        </a:spcBef>
                        <a:spcAft>
                          <a:spcPts val="0"/>
                        </a:spcAft>
                        <a:buNone/>
                      </a:pPr>
                      <a:r>
                        <a:rPr lang="en-US"/>
                        <a:t>1RV23ET069</a:t>
                      </a:r>
                      <a:endParaRPr/>
                    </a:p>
                  </a:txBody>
                  <a:tcPr marT="91425" marB="91425" marR="91425" marL="91425">
                    <a:noFill/>
                  </a:tcPr>
                </a:tc>
              </a:tr>
              <a:tr h="100000">
                <a:tc>
                  <a:txBody>
                    <a:bodyPr/>
                    <a:lstStyle/>
                    <a:p>
                      <a:pPr indent="0" lvl="0" marL="0" rtl="0" algn="ctr">
                        <a:spcBef>
                          <a:spcPts val="0"/>
                        </a:spcBef>
                        <a:spcAft>
                          <a:spcPts val="0"/>
                        </a:spcAft>
                        <a:buNone/>
                      </a:pPr>
                      <a:r>
                        <a:rPr lang="en-US"/>
                        <a:t>Dhruvi Bhandari</a:t>
                      </a:r>
                      <a:endParaRPr/>
                    </a:p>
                  </a:txBody>
                  <a:tcPr marT="91425" marB="91425" marR="91425" marL="91425">
                    <a:noFill/>
                  </a:tcPr>
                </a:tc>
                <a:tc>
                  <a:txBody>
                    <a:bodyPr/>
                    <a:lstStyle/>
                    <a:p>
                      <a:pPr indent="0" lvl="0" marL="0" rtl="0" algn="ctr">
                        <a:spcBef>
                          <a:spcPts val="0"/>
                        </a:spcBef>
                        <a:spcAft>
                          <a:spcPts val="0"/>
                        </a:spcAft>
                        <a:buNone/>
                      </a:pPr>
                      <a:r>
                        <a:rPr lang="en-US"/>
                        <a:t>1RV23EC048</a:t>
                      </a:r>
                      <a:endParaRPr/>
                    </a:p>
                  </a:txBody>
                  <a:tcPr marT="91425" marB="91425" marR="91425" marL="91425">
                    <a:noFill/>
                  </a:tcPr>
                </a:tc>
              </a:tr>
            </a:tbl>
          </a:graphicData>
        </a:graphic>
      </p:graphicFrame>
      <p:sp>
        <p:nvSpPr>
          <p:cNvPr id="48" name="Google Shape;48;p7"/>
          <p:cNvSpPr txBox="1"/>
          <p:nvPr/>
        </p:nvSpPr>
        <p:spPr>
          <a:xfrm>
            <a:off x="1666375" y="1692800"/>
            <a:ext cx="83772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900">
                <a:solidFill>
                  <a:srgbClr val="833C0B"/>
                </a:solidFill>
              </a:rPr>
              <a:t>Smart cities and communities</a:t>
            </a:r>
            <a:endParaRPr sz="1900">
              <a:solidFill>
                <a:srgbClr val="833C0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descr="$PPTXTitle" id="53" name="Google Shape;53;p8"/>
          <p:cNvSpPr txBox="1"/>
          <p:nvPr>
            <p:ph type="title"/>
          </p:nvPr>
        </p:nvSpPr>
        <p:spPr>
          <a:xfrm>
            <a:off x="4142781" y="509150"/>
            <a:ext cx="4631400" cy="631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4000"/>
              <a:t>INTRODUCTION</a:t>
            </a:r>
            <a:endParaRPr sz="4000"/>
          </a:p>
        </p:txBody>
      </p:sp>
      <p:sp>
        <p:nvSpPr>
          <p:cNvPr id="54" name="Google Shape;54;p8"/>
          <p:cNvSpPr txBox="1"/>
          <p:nvPr/>
        </p:nvSpPr>
        <p:spPr>
          <a:xfrm>
            <a:off x="1078558" y="1835048"/>
            <a:ext cx="10101600" cy="5002500"/>
          </a:xfrm>
          <a:prstGeom prst="rect">
            <a:avLst/>
          </a:prstGeom>
          <a:noFill/>
          <a:ln>
            <a:noFill/>
          </a:ln>
        </p:spPr>
        <p:txBody>
          <a:bodyPr anchorCtr="0" anchor="t" bIns="0" lIns="0" spcFirstLastPara="1" rIns="0" wrap="square" tIns="12700">
            <a:spAutoFit/>
          </a:bodyPr>
          <a:lstStyle/>
          <a:p>
            <a:pPr indent="-473710" lvl="0" marL="386715" marR="5080" rtl="0" algn="l">
              <a:lnSpc>
                <a:spcPct val="150000"/>
              </a:lnSpc>
              <a:spcBef>
                <a:spcPts val="0"/>
              </a:spcBef>
              <a:spcAft>
                <a:spcPts val="0"/>
              </a:spcAft>
              <a:buSzPts val="3500"/>
              <a:buFont typeface="Arial"/>
              <a:buChar char="●"/>
            </a:pPr>
            <a:r>
              <a:rPr lang="en-US" sz="1900">
                <a:solidFill>
                  <a:schemeClr val="dk1"/>
                </a:solidFill>
              </a:rPr>
              <a:t>Power grids now generate </a:t>
            </a:r>
            <a:r>
              <a:rPr b="1" lang="en-US" sz="1900">
                <a:solidFill>
                  <a:schemeClr val="dk1"/>
                </a:solidFill>
              </a:rPr>
              <a:t>large volumes of time-dependent sensor and network data</a:t>
            </a:r>
            <a:r>
              <a:rPr lang="en-US" sz="1900">
                <a:solidFill>
                  <a:schemeClr val="dk1"/>
                </a:solidFill>
              </a:rPr>
              <a:t>, making manual monitoring impractical.</a:t>
            </a:r>
            <a:endParaRPr sz="3500">
              <a:latin typeface="Arial"/>
              <a:ea typeface="Arial"/>
              <a:cs typeface="Arial"/>
              <a:sym typeface="Arial"/>
            </a:endParaRPr>
          </a:p>
          <a:p>
            <a:pPr indent="-450850" lvl="0" marL="457200" marR="12700" rtl="0" algn="l">
              <a:lnSpc>
                <a:spcPct val="150000"/>
              </a:lnSpc>
              <a:spcBef>
                <a:spcPts val="1000"/>
              </a:spcBef>
              <a:spcAft>
                <a:spcPts val="0"/>
              </a:spcAft>
              <a:buSzPts val="3500"/>
              <a:buChar char="●"/>
            </a:pPr>
            <a:r>
              <a:rPr lang="en-US" sz="1900">
                <a:solidFill>
                  <a:schemeClr val="dk1"/>
                </a:solidFill>
              </a:rPr>
              <a:t>Cyber intrusions increasingly manifest as </a:t>
            </a:r>
            <a:r>
              <a:rPr b="1" lang="en-US" sz="1900">
                <a:solidFill>
                  <a:schemeClr val="dk1"/>
                </a:solidFill>
              </a:rPr>
              <a:t>subtle statistical deviations</a:t>
            </a:r>
            <a:r>
              <a:rPr lang="en-US" sz="1900">
                <a:solidFill>
                  <a:schemeClr val="dk1"/>
                </a:solidFill>
              </a:rPr>
              <a:t> rather than obvious failures.</a:t>
            </a:r>
            <a:endParaRPr sz="3500">
              <a:latin typeface="Arial"/>
              <a:ea typeface="Arial"/>
              <a:cs typeface="Arial"/>
              <a:sym typeface="Arial"/>
            </a:endParaRPr>
          </a:p>
          <a:p>
            <a:pPr indent="-473710" lvl="0" marL="386715" marR="86995" rtl="0" algn="l">
              <a:lnSpc>
                <a:spcPct val="150000"/>
              </a:lnSpc>
              <a:spcBef>
                <a:spcPts val="1000"/>
              </a:spcBef>
              <a:spcAft>
                <a:spcPts val="0"/>
              </a:spcAft>
              <a:buSzPts val="3500"/>
              <a:buFont typeface="Arial"/>
              <a:buChar char="●"/>
            </a:pPr>
            <a:r>
              <a:rPr lang="en-US" sz="1900">
                <a:solidFill>
                  <a:schemeClr val="dk1"/>
                </a:solidFill>
              </a:rPr>
              <a:t>Physical faults often appear as </a:t>
            </a:r>
            <a:r>
              <a:rPr b="1" lang="en-US" sz="1900">
                <a:solidFill>
                  <a:schemeClr val="dk1"/>
                </a:solidFill>
              </a:rPr>
              <a:t>small drifts in voltage, current, or power</a:t>
            </a:r>
            <a:r>
              <a:rPr lang="en-US" sz="1900">
                <a:solidFill>
                  <a:schemeClr val="dk1"/>
                </a:solidFill>
              </a:rPr>
              <a:t>, which are missed by static thresholds.</a:t>
            </a:r>
            <a:endParaRPr sz="3500">
              <a:latin typeface="Arial"/>
              <a:ea typeface="Arial"/>
              <a:cs typeface="Arial"/>
              <a:sym typeface="Arial"/>
            </a:endParaRPr>
          </a:p>
          <a:p>
            <a:pPr indent="-463549" lvl="0" marL="457200" rtl="0" algn="l">
              <a:spcBef>
                <a:spcPts val="1019"/>
              </a:spcBef>
              <a:spcAft>
                <a:spcPts val="0"/>
              </a:spcAft>
              <a:buSzPts val="3700"/>
              <a:buChar char="●"/>
            </a:pPr>
            <a:r>
              <a:rPr lang="en-US" sz="1900">
                <a:solidFill>
                  <a:schemeClr val="dk1"/>
                </a:solidFill>
              </a:rPr>
              <a:t>Data-driven learning models can </a:t>
            </a:r>
            <a:r>
              <a:rPr b="1" lang="en-US" sz="1900">
                <a:solidFill>
                  <a:schemeClr val="dk1"/>
                </a:solidFill>
              </a:rPr>
              <a:t>learn normal operational patterns</a:t>
            </a:r>
            <a:r>
              <a:rPr lang="en-US" sz="1900">
                <a:solidFill>
                  <a:schemeClr val="dk1"/>
                </a:solidFill>
              </a:rPr>
              <a:t> and flag deviations without prior attack signatures.</a:t>
            </a:r>
            <a:endParaRPr sz="35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descr="$PPTXTitle" id="59" name="Google Shape;59;p9"/>
          <p:cNvSpPr txBox="1"/>
          <p:nvPr>
            <p:ph type="title"/>
          </p:nvPr>
        </p:nvSpPr>
        <p:spPr>
          <a:xfrm>
            <a:off x="3265150" y="78300"/>
            <a:ext cx="5959200" cy="1015500"/>
          </a:xfrm>
          <a:prstGeom prst="rect">
            <a:avLst/>
          </a:prstGeom>
          <a:noFill/>
          <a:ln>
            <a:noFill/>
          </a:ln>
        </p:spPr>
        <p:txBody>
          <a:bodyPr anchorCtr="0" anchor="t" bIns="0" lIns="0" spcFirstLastPara="1" rIns="0" wrap="square" tIns="410950">
            <a:spAutoFit/>
          </a:bodyPr>
          <a:lstStyle/>
          <a:p>
            <a:pPr indent="0" lvl="0" marL="200660" rtl="0" algn="l">
              <a:lnSpc>
                <a:spcPct val="100000"/>
              </a:lnSpc>
              <a:spcBef>
                <a:spcPts val="0"/>
              </a:spcBef>
              <a:spcAft>
                <a:spcPts val="0"/>
              </a:spcAft>
              <a:buNone/>
            </a:pPr>
            <a:r>
              <a:rPr lang="en-US" sz="3900"/>
              <a:t>LITERATURE SURVEY</a:t>
            </a:r>
            <a:endParaRPr sz="3900"/>
          </a:p>
        </p:txBody>
      </p:sp>
      <p:graphicFrame>
        <p:nvGraphicFramePr>
          <p:cNvPr id="60" name="Google Shape;60;p9"/>
          <p:cNvGraphicFramePr/>
          <p:nvPr/>
        </p:nvGraphicFramePr>
        <p:xfrm>
          <a:off x="271425" y="1484062"/>
          <a:ext cx="3000000" cy="3000000"/>
        </p:xfrm>
        <a:graphic>
          <a:graphicData uri="http://schemas.openxmlformats.org/drawingml/2006/table">
            <a:tbl>
              <a:tblPr bandRow="1" firstRow="1">
                <a:noFill/>
                <a:tableStyleId>{59B65767-FECF-45E2-A766-967CE181A3B7}</a:tableStyleId>
              </a:tblPr>
              <a:tblGrid>
                <a:gridCol w="2278350"/>
                <a:gridCol w="1530375"/>
                <a:gridCol w="2101850"/>
                <a:gridCol w="5772775"/>
              </a:tblGrid>
              <a:tr h="572125">
                <a:tc>
                  <a:txBody>
                    <a:bodyPr/>
                    <a:lstStyle/>
                    <a:p>
                      <a:pPr indent="0" lvl="0" marL="537210"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Paper Title</a:t>
                      </a:r>
                      <a:endParaRPr sz="1600" u="none" cap="none" strike="noStrike">
                        <a:latin typeface="Times New Roman"/>
                        <a:ea typeface="Times New Roman"/>
                        <a:cs typeface="Times New Roman"/>
                        <a:sym typeface="Times New Roman"/>
                      </a:endParaRPr>
                    </a:p>
                  </a:txBody>
                  <a:tcPr marT="1562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rPr b="1" lang="en-US" sz="1700" u="none" cap="none" strike="noStrike">
                          <a:latin typeface="Times New Roman"/>
                          <a:ea typeface="Times New Roman"/>
                          <a:cs typeface="Times New Roman"/>
                          <a:sym typeface="Times New Roman"/>
                        </a:rPr>
                        <a:t>Publisher</a:t>
                      </a:r>
                      <a:endParaRPr sz="1700" u="none" cap="none" strike="noStrike">
                        <a:latin typeface="Times New Roman"/>
                        <a:ea typeface="Times New Roman"/>
                        <a:cs typeface="Times New Roman"/>
                        <a:sym typeface="Times New Roman"/>
                      </a:endParaRPr>
                    </a:p>
                  </a:txBody>
                  <a:tcPr marT="1479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673100" marR="0" rtl="0" algn="l">
                        <a:lnSpc>
                          <a:spcPct val="100000"/>
                        </a:lnSpc>
                        <a:spcBef>
                          <a:spcPts val="0"/>
                        </a:spcBef>
                        <a:spcAft>
                          <a:spcPts val="0"/>
                        </a:spcAft>
                        <a:buNone/>
                      </a:pPr>
                      <a:r>
                        <a:rPr b="1" lang="en-US" sz="1700" u="none" cap="none" strike="noStrike">
                          <a:latin typeface="Times New Roman"/>
                          <a:ea typeface="Times New Roman"/>
                          <a:cs typeface="Times New Roman"/>
                          <a:sym typeface="Times New Roman"/>
                        </a:rPr>
                        <a:t>Authors</a:t>
                      </a:r>
                      <a:endParaRPr sz="1700" u="none" cap="none" strike="noStrike">
                        <a:latin typeface="Times New Roman"/>
                        <a:ea typeface="Times New Roman"/>
                        <a:cs typeface="Times New Roman"/>
                        <a:sym typeface="Times New Roman"/>
                      </a:endParaRPr>
                    </a:p>
                  </a:txBody>
                  <a:tcPr marT="1479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Summary</a:t>
                      </a:r>
                      <a:endParaRPr sz="1800" u="none" cap="none" strike="noStrike">
                        <a:latin typeface="Times New Roman"/>
                        <a:ea typeface="Times New Roman"/>
                        <a:cs typeface="Times New Roman"/>
                        <a:sym typeface="Times New Roman"/>
                      </a:endParaRPr>
                    </a:p>
                  </a:txBody>
                  <a:tcPr marT="1397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1995200">
                <a:tc>
                  <a:txBody>
                    <a:bodyPr/>
                    <a:lstStyle/>
                    <a:p>
                      <a:pPr indent="0" lvl="0" marL="0" rtl="0" algn="ctr">
                        <a:lnSpc>
                          <a:spcPct val="123913"/>
                        </a:lnSpc>
                        <a:spcBef>
                          <a:spcPts val="0"/>
                        </a:spcBef>
                        <a:spcAft>
                          <a:spcPts val="0"/>
                        </a:spcAft>
                        <a:buClr>
                          <a:schemeClr val="dk1"/>
                        </a:buClr>
                        <a:buSzPts val="1100"/>
                        <a:buFont typeface="Arial"/>
                        <a:buNone/>
                      </a:pPr>
                      <a:r>
                        <a:rPr lang="en-US" sz="1500">
                          <a:solidFill>
                            <a:srgbClr val="333333"/>
                          </a:solidFill>
                          <a:highlight>
                            <a:srgbClr val="FFFFFF"/>
                          </a:highlight>
                          <a:latin typeface="Times New Roman"/>
                          <a:ea typeface="Times New Roman"/>
                          <a:cs typeface="Times New Roman"/>
                          <a:sym typeface="Times New Roman"/>
                        </a:rPr>
                        <a:t>A Method of Abnormal Detection for Power Grid Control System Metrics Based on AI Platform</a:t>
                      </a:r>
                      <a:endParaRPr sz="1500">
                        <a:solidFill>
                          <a:srgbClr val="333333"/>
                        </a:solidFill>
                        <a:highlight>
                          <a:srgbClr val="FFFFFF"/>
                        </a:highlight>
                        <a:latin typeface="Times New Roman"/>
                        <a:ea typeface="Times New Roman"/>
                        <a:cs typeface="Times New Roman"/>
                        <a:sym typeface="Times New Roman"/>
                      </a:endParaRPr>
                    </a:p>
                    <a:p>
                      <a:pPr indent="0" lvl="0" marL="85725" marR="79375" rtl="0" algn="l">
                        <a:lnSpc>
                          <a:spcPct val="100000"/>
                        </a:lnSpc>
                        <a:spcBef>
                          <a:spcPts val="0"/>
                        </a:spcBef>
                        <a:spcAft>
                          <a:spcPts val="0"/>
                        </a:spcAft>
                        <a:buNone/>
                      </a:pPr>
                      <a:r>
                        <a:t/>
                      </a:r>
                      <a:endParaRPr sz="1700">
                        <a:latin typeface="Times New Roman"/>
                        <a:ea typeface="Times New Roman"/>
                        <a:cs typeface="Times New Roman"/>
                        <a:sym typeface="Times New Roman"/>
                      </a:endParaRPr>
                    </a:p>
                  </a:txBody>
                  <a:tcPr marT="1587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1125"/>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IEEE-202</a:t>
                      </a:r>
                      <a:r>
                        <a:rPr lang="en-US">
                          <a:latin typeface="Times New Roman"/>
                          <a:ea typeface="Times New Roman"/>
                          <a:cs typeface="Times New Roman"/>
                          <a:sym typeface="Times New Roman"/>
                        </a:rPr>
                        <a:t>4</a:t>
                      </a:r>
                      <a:endParaRPr sz="14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p>
                      <a:pPr indent="0" lvl="0" marL="0" marR="0" rtl="0" algn="ctr">
                        <a:lnSpc>
                          <a:spcPct val="100000"/>
                        </a:lnSpc>
                        <a:spcBef>
                          <a:spcPts val="484"/>
                        </a:spcBef>
                        <a:spcAft>
                          <a:spcPts val="0"/>
                        </a:spcAft>
                        <a:buNone/>
                      </a:pPr>
                      <a:r>
                        <a:rPr lang="en-US">
                          <a:latin typeface="Times New Roman"/>
                          <a:ea typeface="Times New Roman"/>
                          <a:cs typeface="Times New Roman"/>
                          <a:sym typeface="Times New Roman"/>
                        </a:rPr>
                        <a:t>Gao Shang,Ji Xuechun,Shen Jialing</a:t>
                      </a:r>
                      <a:endParaRPr u="none" cap="none" strike="noStrike">
                        <a:latin typeface="Times New Roman"/>
                        <a:ea typeface="Times New Roman"/>
                        <a:cs typeface="Times New Roman"/>
                        <a:sym typeface="Times New Roman"/>
                      </a:endParaRPr>
                    </a:p>
                    <a:p>
                      <a:pPr indent="-293369" lvl="0" marL="549910" marR="248284"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457200" marR="0" rtl="0" algn="l">
                        <a:lnSpc>
                          <a:spcPct val="100000"/>
                        </a:lnSpc>
                        <a:spcBef>
                          <a:spcPts val="0"/>
                        </a:spcBef>
                        <a:spcAft>
                          <a:spcPts val="0"/>
                        </a:spcAft>
                        <a:buNone/>
                      </a:pPr>
                      <a:r>
                        <a:rPr lang="en-US" sz="1200">
                          <a:latin typeface="Times New Roman"/>
                          <a:ea typeface="Times New Roman"/>
                          <a:cs typeface="Times New Roman"/>
                          <a:sym typeface="Times New Roman"/>
                        </a:rPr>
                        <a:t>This paper shows how to overcome the limitations of fixed-threshold monitoring methods The approach uses sliding-window time-series analysis to detect both slow-climbing anomalies and sudden mutation anomalies in system metrics. A multi-algorithm ensemble learning strategy improves detection accuracy and reduces false alarms compared to single-algorithm methods. Dynamic thresholds generated through short-term prediction enable adaptive and real-time anomaly detection under changing operating conditions. Although the work focuses on operational anomalies, the abnormal metric patterns identified are similar to those caused by cyber-attacks such as false data injection.</a:t>
                      </a:r>
                      <a:endParaRPr sz="1200" u="none" cap="none" strike="noStrike">
                        <a:latin typeface="Times New Roman"/>
                        <a:ea typeface="Times New Roman"/>
                        <a:cs typeface="Times New Roman"/>
                        <a:sym typeface="Times New Roman"/>
                      </a:endParaRPr>
                    </a:p>
                  </a:txBody>
                  <a:tcPr marT="1466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361575">
                <a:tc>
                  <a:txBody>
                    <a:bodyPr/>
                    <a:lstStyle/>
                    <a:p>
                      <a:pPr indent="0" lvl="0" marL="0" marR="0" rtl="0" algn="ctr">
                        <a:lnSpc>
                          <a:spcPct val="100000"/>
                        </a:lnSpc>
                        <a:spcBef>
                          <a:spcPts val="0"/>
                        </a:spcBef>
                        <a:spcAft>
                          <a:spcPts val="0"/>
                        </a:spcAft>
                        <a:buNone/>
                      </a:pPr>
                      <a:r>
                        <a:rPr lang="en-US" sz="1500">
                          <a:latin typeface="Times New Roman"/>
                          <a:ea typeface="Times New Roman"/>
                          <a:cs typeface="Times New Roman"/>
                          <a:sym typeface="Times New Roman"/>
                        </a:rPr>
                        <a:t>Enhancing Smart Grid Security : An Data-Driven Anomaly Detection Framework</a:t>
                      </a:r>
                      <a:endParaRPr sz="1500" u="none" cap="none" strike="noStrike">
                        <a:latin typeface="Times New Roman"/>
                        <a:ea typeface="Times New Roman"/>
                        <a:cs typeface="Times New Roman"/>
                        <a:sym typeface="Times New Roman"/>
                      </a:endParaRPr>
                    </a:p>
                    <a:p>
                      <a:pPr indent="0" lvl="0" marL="85725" marR="129539" rtl="0" algn="ctr">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txBody>
                  <a:tcPr marT="2076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35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lang="en-US" sz="1400" u="none" cap="none" strike="noStrike">
                          <a:latin typeface="Times New Roman"/>
                          <a:ea typeface="Times New Roman"/>
                          <a:cs typeface="Times New Roman"/>
                          <a:sym typeface="Times New Roman"/>
                        </a:rPr>
                        <a:t>IEEE-20</a:t>
                      </a:r>
                      <a:r>
                        <a:rPr lang="en-US">
                          <a:latin typeface="Times New Roman"/>
                          <a:ea typeface="Times New Roman"/>
                          <a:cs typeface="Times New Roman"/>
                          <a:sym typeface="Times New Roman"/>
                        </a:rPr>
                        <a:t>24</a:t>
                      </a:r>
                      <a:endParaRPr sz="14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p>
                      <a:pPr indent="0" lvl="0" marL="0" marR="0" rtl="0" algn="ctr">
                        <a:lnSpc>
                          <a:spcPct val="100000"/>
                        </a:lnSpc>
                        <a:spcBef>
                          <a:spcPts val="70"/>
                        </a:spcBef>
                        <a:spcAft>
                          <a:spcPts val="0"/>
                        </a:spcAft>
                        <a:buNone/>
                      </a:pPr>
                      <a:r>
                        <a:t/>
                      </a:r>
                      <a:endParaRPr sz="1200" u="none" cap="none" strike="noStrike">
                        <a:latin typeface="Times New Roman"/>
                        <a:ea typeface="Times New Roman"/>
                        <a:cs typeface="Times New Roman"/>
                        <a:sym typeface="Times New Roman"/>
                      </a:endParaRPr>
                    </a:p>
                    <a:p>
                      <a:pPr indent="0" lvl="0" marL="100330" marR="0" rtl="0" algn="ctr">
                        <a:lnSpc>
                          <a:spcPct val="100000"/>
                        </a:lnSpc>
                        <a:spcBef>
                          <a:spcPts val="0"/>
                        </a:spcBef>
                        <a:spcAft>
                          <a:spcPts val="0"/>
                        </a:spcAft>
                        <a:buNone/>
                      </a:pPr>
                      <a:r>
                        <a:rPr lang="en-US" sz="1200">
                          <a:latin typeface="Times New Roman"/>
                          <a:ea typeface="Times New Roman"/>
                          <a:cs typeface="Times New Roman"/>
                          <a:sym typeface="Times New Roman"/>
                        </a:rPr>
                        <a:t>Darshan Vishwarao, Arun Kumar, Ngyuen Khanh</a:t>
                      </a:r>
                      <a:endParaRPr sz="12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457200" marR="0" rtl="0" algn="l">
                        <a:lnSpc>
                          <a:spcPct val="100000"/>
                        </a:lnSpc>
                        <a:spcBef>
                          <a:spcPts val="0"/>
                        </a:spcBef>
                        <a:spcAft>
                          <a:spcPts val="0"/>
                        </a:spcAft>
                        <a:buNone/>
                      </a:pPr>
                      <a:r>
                        <a:t/>
                      </a:r>
                      <a:endParaRPr sz="1300">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rPr lang="en-US" sz="1300">
                          <a:latin typeface="Times New Roman"/>
                          <a:ea typeface="Times New Roman"/>
                          <a:cs typeface="Times New Roman"/>
                          <a:sym typeface="Times New Roman"/>
                        </a:rPr>
                        <a:t>The framework employs a Gaussian Mixture Model (GMM) to learn normal operational behavior and detect anomalies using adaptive probability thresholds. Detected anomalies are then classified into cyber-attacks or natural events using supervised machine learning models, where Random Forest achieves the best performance. SHAP is integrated to provide explainability and feature importance analysis, enhancing transparency and trust.</a:t>
                      </a:r>
                      <a:endParaRPr sz="1300" u="none" cap="none" strike="noStrike">
                        <a:latin typeface="Times New Roman"/>
                        <a:ea typeface="Times New Roman"/>
                        <a:cs typeface="Times New Roman"/>
                        <a:sym typeface="Times New Roman"/>
                      </a:endParaRPr>
                    </a:p>
                  </a:txBody>
                  <a:tcPr marT="857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graphicFrame>
        <p:nvGraphicFramePr>
          <p:cNvPr id="65" name="Google Shape;65;p10"/>
          <p:cNvGraphicFramePr/>
          <p:nvPr/>
        </p:nvGraphicFramePr>
        <p:xfrm>
          <a:off x="420275" y="1483863"/>
          <a:ext cx="3000000" cy="3000000"/>
        </p:xfrm>
        <a:graphic>
          <a:graphicData uri="http://schemas.openxmlformats.org/drawingml/2006/table">
            <a:tbl>
              <a:tblPr bandRow="1" firstRow="1">
                <a:noFill/>
                <a:tableStyleId>{59B65767-FECF-45E2-A766-967CE181A3B7}</a:tableStyleId>
              </a:tblPr>
              <a:tblGrid>
                <a:gridCol w="2456175"/>
                <a:gridCol w="1444000"/>
                <a:gridCol w="1857375"/>
                <a:gridCol w="5290825"/>
              </a:tblGrid>
              <a:tr h="456575">
                <a:tc>
                  <a:txBody>
                    <a:bodyPr/>
                    <a:lstStyle/>
                    <a:p>
                      <a:pPr indent="0" lvl="0" marL="745490"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Paper Title</a:t>
                      </a:r>
                      <a:endParaRPr sz="1600" u="none" cap="none" strike="noStrike">
                        <a:latin typeface="Times New Roman"/>
                        <a:ea typeface="Times New Roman"/>
                        <a:cs typeface="Times New Roman"/>
                        <a:sym typeface="Times New Roman"/>
                      </a:endParaRPr>
                    </a:p>
                  </a:txBody>
                  <a:tcPr marT="984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rPr b="1" lang="en-US" sz="1700" u="none" cap="none" strike="noStrike">
                          <a:latin typeface="Times New Roman"/>
                          <a:ea typeface="Times New Roman"/>
                          <a:cs typeface="Times New Roman"/>
                          <a:sym typeface="Times New Roman"/>
                        </a:rPr>
                        <a:t>Publisher</a:t>
                      </a:r>
                      <a:endParaRPr sz="1700" u="none" cap="none" strike="noStrike">
                        <a:latin typeface="Times New Roman"/>
                        <a:ea typeface="Times New Roman"/>
                        <a:cs typeface="Times New Roman"/>
                        <a:sym typeface="Times New Roman"/>
                      </a:endParaRPr>
                    </a:p>
                  </a:txBody>
                  <a:tcPr marT="901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550545" marR="0" rtl="0" algn="l">
                        <a:lnSpc>
                          <a:spcPct val="100000"/>
                        </a:lnSpc>
                        <a:spcBef>
                          <a:spcPts val="0"/>
                        </a:spcBef>
                        <a:spcAft>
                          <a:spcPts val="0"/>
                        </a:spcAft>
                        <a:buNone/>
                      </a:pPr>
                      <a:r>
                        <a:rPr b="1" lang="en-US" sz="1700" u="none" cap="none" strike="noStrike">
                          <a:latin typeface="Times New Roman"/>
                          <a:ea typeface="Times New Roman"/>
                          <a:cs typeface="Times New Roman"/>
                          <a:sym typeface="Times New Roman"/>
                        </a:rPr>
                        <a:t>Authors</a:t>
                      </a:r>
                      <a:endParaRPr sz="1700" u="none" cap="none" strike="noStrike">
                        <a:latin typeface="Times New Roman"/>
                        <a:ea typeface="Times New Roman"/>
                        <a:cs typeface="Times New Roman"/>
                        <a:sym typeface="Times New Roman"/>
                      </a:endParaRPr>
                    </a:p>
                  </a:txBody>
                  <a:tcPr marT="901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Summary</a:t>
                      </a:r>
                      <a:endParaRPr sz="1800" u="none" cap="none" strike="noStrike">
                        <a:latin typeface="Times New Roman"/>
                        <a:ea typeface="Times New Roman"/>
                        <a:cs typeface="Times New Roman"/>
                        <a:sym typeface="Times New Roman"/>
                      </a:endParaRPr>
                    </a:p>
                  </a:txBody>
                  <a:tcPr marT="819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13615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p>
                      <a:pPr indent="0" lvl="0" marL="85725" marR="301625" rtl="0" algn="l">
                        <a:lnSpc>
                          <a:spcPct val="100000"/>
                        </a:lnSpc>
                        <a:spcBef>
                          <a:spcPts val="0"/>
                        </a:spcBef>
                        <a:spcAft>
                          <a:spcPts val="0"/>
                        </a:spcAft>
                        <a:buNone/>
                      </a:pPr>
                      <a:r>
                        <a:rPr lang="en-US" sz="1700">
                          <a:solidFill>
                            <a:srgbClr val="333333"/>
                          </a:solidFill>
                          <a:latin typeface="Arial"/>
                          <a:ea typeface="Arial"/>
                          <a:cs typeface="Arial"/>
                          <a:sym typeface="Arial"/>
                        </a:rPr>
                        <a:t>Cybersecurity in Smart Grids using Machine Learning: A Systematic Literature Review</a:t>
                      </a:r>
                      <a:endParaRPr sz="1700" u="none" cap="none" strike="noStrike">
                        <a:latin typeface="Arial"/>
                        <a:ea typeface="Arial"/>
                        <a:cs typeface="Arial"/>
                        <a:sym typeface="Arial"/>
                      </a:endParaRPr>
                    </a:p>
                  </a:txBody>
                  <a:tcPr marT="336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1075"/>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IEEE-20</a:t>
                      </a:r>
                      <a:r>
                        <a:rPr lang="en-US">
                          <a:latin typeface="Times New Roman"/>
                          <a:ea typeface="Times New Roman"/>
                          <a:cs typeface="Times New Roman"/>
                          <a:sym typeface="Times New Roman"/>
                        </a:rPr>
                        <a:t>25</a:t>
                      </a:r>
                      <a:endParaRPr sz="14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None/>
                      </a:pPr>
                      <a:r>
                        <a:t/>
                      </a:r>
                      <a:endParaRPr sz="13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3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US" sz="1300">
                          <a:latin typeface="Times New Roman"/>
                          <a:ea typeface="Times New Roman"/>
                          <a:cs typeface="Times New Roman"/>
                          <a:sym typeface="Times New Roman"/>
                        </a:rPr>
                        <a:t>Norman Nelufule,Crestinah Mudau,Boitumelo Nkwe</a:t>
                      </a:r>
                      <a:endParaRPr sz="1300" u="none" cap="none" strike="noStrike">
                        <a:latin typeface="Times New Roman"/>
                        <a:ea typeface="Times New Roman"/>
                        <a:cs typeface="Times New Roman"/>
                        <a:sym typeface="Times New Roman"/>
                      </a:endParaRPr>
                    </a:p>
                    <a:p>
                      <a:pPr indent="0" lvl="0" marL="0" marR="0" rtl="0" algn="l">
                        <a:lnSpc>
                          <a:spcPct val="100000"/>
                        </a:lnSpc>
                        <a:spcBef>
                          <a:spcPts val="819"/>
                        </a:spcBef>
                        <a:spcAft>
                          <a:spcPts val="0"/>
                        </a:spcAft>
                        <a:buNone/>
                      </a:pPr>
                      <a:r>
                        <a:t/>
                      </a:r>
                      <a:endParaRPr sz="1300" u="none" cap="none" strike="noStrike">
                        <a:latin typeface="Times New Roman"/>
                        <a:ea typeface="Times New Roman"/>
                        <a:cs typeface="Times New Roman"/>
                        <a:sym typeface="Times New Roman"/>
                      </a:endParaRPr>
                    </a:p>
                    <a:p>
                      <a:pPr indent="-144780" lvl="0" marL="410209" marR="258445" rtl="0" algn="l">
                        <a:lnSpc>
                          <a:spcPct val="100000"/>
                        </a:lnSpc>
                        <a:spcBef>
                          <a:spcPts val="0"/>
                        </a:spcBef>
                        <a:spcAft>
                          <a:spcPts val="0"/>
                        </a:spcAft>
                        <a:buNone/>
                      </a:pPr>
                      <a:r>
                        <a:t/>
                      </a:r>
                      <a:endParaRPr sz="13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457200" marR="487680" rtl="0" algn="l">
                        <a:lnSpc>
                          <a:spcPct val="114999"/>
                        </a:lnSpc>
                        <a:spcBef>
                          <a:spcPts val="0"/>
                        </a:spcBef>
                        <a:spcAft>
                          <a:spcPts val="0"/>
                        </a:spcAft>
                        <a:buNone/>
                      </a:pPr>
                      <a:r>
                        <a:rPr lang="en-US" sz="1100">
                          <a:latin typeface="Arial"/>
                          <a:ea typeface="Arial"/>
                          <a:cs typeface="Arial"/>
                          <a:sym typeface="Arial"/>
                        </a:rPr>
                        <a:t>This review summarizes ML- and DL-based cybersecurity techniques for smart grids, covering intrusion detection, false data injection mitigation, anomaly detection, privacy preservation, and secure communication. While learning-based and privacy-aware methods achieve high detection accuracy in controlled settings, their real-world deployment is limited by reliance on simulated datasets, high computational complexity, scalability issues, and adversarial vulnerabilities. The paper highlights the need for standardized real-world data, lightweight and explainable models, and scalable privacy-preserving frameworks to enable practical and robust smart grid security.</a:t>
                      </a:r>
                      <a:endParaRPr sz="1100" u="none" cap="none" strike="noStrike">
                        <a:latin typeface="Arial"/>
                        <a:ea typeface="Arial"/>
                        <a:cs typeface="Arial"/>
                        <a:sym typeface="Arial"/>
                      </a:endParaRPr>
                    </a:p>
                  </a:txBody>
                  <a:tcPr marT="1181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254875">
                <a:tc>
                  <a:txBody>
                    <a:bodyPr/>
                    <a:lstStyle/>
                    <a:p>
                      <a:pPr indent="0" lvl="0" marL="85725" marR="264795" rtl="0" algn="l">
                        <a:lnSpc>
                          <a:spcPct val="100000"/>
                        </a:lnSpc>
                        <a:spcBef>
                          <a:spcPts val="0"/>
                        </a:spcBef>
                        <a:spcAft>
                          <a:spcPts val="0"/>
                        </a:spcAft>
                        <a:buNone/>
                      </a:pPr>
                      <a:r>
                        <a:rPr lang="en-US" sz="1700">
                          <a:solidFill>
                            <a:srgbClr val="333333"/>
                          </a:solidFill>
                          <a:latin typeface="Arial"/>
                          <a:ea typeface="Arial"/>
                          <a:cs typeface="Arial"/>
                          <a:sym typeface="Arial"/>
                        </a:rPr>
                        <a:t>Advancing Cyber-Attack Detection in Power Systems: A Comparative Study of Machine Learning and Graph Neural Network Approaches </a:t>
                      </a:r>
                      <a:endParaRPr sz="1700" u="none" cap="none" strike="noStrike">
                        <a:latin typeface="Arial"/>
                        <a:ea typeface="Arial"/>
                        <a:cs typeface="Arial"/>
                        <a:sym typeface="Arial"/>
                      </a:endParaRPr>
                    </a:p>
                  </a:txBody>
                  <a:tcPr marT="825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154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lang="en-US" sz="1400" u="none" cap="none" strike="noStrike">
                          <a:latin typeface="Times New Roman"/>
                          <a:ea typeface="Times New Roman"/>
                          <a:cs typeface="Times New Roman"/>
                          <a:sym typeface="Times New Roman"/>
                        </a:rPr>
                        <a:t>IEEE-20</a:t>
                      </a:r>
                      <a:r>
                        <a:rPr lang="en-US">
                          <a:latin typeface="Times New Roman"/>
                          <a:ea typeface="Times New Roman"/>
                          <a:cs typeface="Times New Roman"/>
                          <a:sym typeface="Times New Roman"/>
                        </a:rPr>
                        <a:t>24</a:t>
                      </a:r>
                      <a:endParaRPr sz="14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700"/>
                        </a:spcBef>
                        <a:spcAft>
                          <a:spcPts val="0"/>
                        </a:spcAft>
                        <a:buNone/>
                      </a:pPr>
                      <a:r>
                        <a:rPr lang="en-US">
                          <a:latin typeface="Times New Roman"/>
                          <a:ea typeface="Times New Roman"/>
                          <a:cs typeface="Times New Roman"/>
                          <a:sym typeface="Times New Roman"/>
                        </a:rPr>
                        <a:t>Tianzhixi Yin,Syed Ahsan Raza Naqvi,Sai Pushpak Nandanoori</a:t>
                      </a:r>
                      <a:endParaRPr sz="1400" u="none" cap="none" strike="noStrike">
                        <a:latin typeface="Times New Roman"/>
                        <a:ea typeface="Times New Roman"/>
                        <a:cs typeface="Times New Roman"/>
                        <a:sym typeface="Times New Roman"/>
                      </a:endParaRPr>
                    </a:p>
                    <a:p>
                      <a:pPr indent="-202565" lvl="0" marL="370205" marR="161925" rtl="0" algn="l">
                        <a:lnSpc>
                          <a:spcPct val="100000"/>
                        </a:lnSpc>
                        <a:spcBef>
                          <a:spcPts val="5"/>
                        </a:spcBef>
                        <a:spcAft>
                          <a:spcPts val="0"/>
                        </a:spcAft>
                        <a:buNone/>
                      </a:pPr>
                      <a:r>
                        <a:t/>
                      </a:r>
                      <a:endParaRPr sz="1400" u="none" cap="none" strike="noStrike">
                        <a:latin typeface="Arial"/>
                        <a:ea typeface="Arial"/>
                        <a:cs typeface="Arial"/>
                        <a:sym typeface="Arial"/>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457200" marR="0" rtl="0" algn="l">
                        <a:lnSpc>
                          <a:spcPct val="100000"/>
                        </a:lnSpc>
                        <a:spcBef>
                          <a:spcPts val="195"/>
                        </a:spcBef>
                        <a:spcAft>
                          <a:spcPts val="0"/>
                        </a:spcAft>
                        <a:buNone/>
                      </a:pPr>
                      <a:r>
                        <a:rPr lang="en-US" sz="1100">
                          <a:latin typeface="Arial"/>
                          <a:ea typeface="Arial"/>
                          <a:cs typeface="Arial"/>
                          <a:sym typeface="Arial"/>
                        </a:rPr>
                        <a:t>This paper compares conventional ML, deep learning, and graph neural network (GNN) methods for detecting cyber-attacks in power systems using simulated IEEE 68-bus time-series data. Results show that </a:t>
                      </a:r>
                      <a:r>
                        <a:rPr b="1" lang="en-US" sz="1100">
                          <a:latin typeface="Arial"/>
                          <a:ea typeface="Arial"/>
                          <a:cs typeface="Arial"/>
                          <a:sym typeface="Arial"/>
                        </a:rPr>
                        <a:t>GNN-based models (GAT and GDN) outperform k-means and autoencoders</a:t>
                      </a:r>
                      <a:r>
                        <a:rPr lang="en-US" sz="1100">
                          <a:latin typeface="Arial"/>
                          <a:ea typeface="Arial"/>
                          <a:cs typeface="Arial"/>
                          <a:sym typeface="Arial"/>
                        </a:rPr>
                        <a:t>, especially for low-magnitude and complex attacks, by leveraging grid topology. However, accurately localizing subtle attacks such as riding-the-wave remains challenging, indicating the need for further improvement in realistic scenarios.</a:t>
                      </a:r>
                      <a:endParaRPr sz="1100" u="none" cap="none" strike="noStrike">
                        <a:latin typeface="Arial"/>
                        <a:ea typeface="Arial"/>
                        <a:cs typeface="Arial"/>
                        <a:sym typeface="Arial"/>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sp>
        <p:nvSpPr>
          <p:cNvPr descr="$PPTXTitle" id="66" name="Google Shape;66;p10"/>
          <p:cNvSpPr txBox="1"/>
          <p:nvPr>
            <p:ph type="title"/>
          </p:nvPr>
        </p:nvSpPr>
        <p:spPr>
          <a:xfrm>
            <a:off x="3265150" y="78300"/>
            <a:ext cx="5959200" cy="1015500"/>
          </a:xfrm>
          <a:prstGeom prst="rect">
            <a:avLst/>
          </a:prstGeom>
          <a:noFill/>
          <a:ln>
            <a:noFill/>
          </a:ln>
        </p:spPr>
        <p:txBody>
          <a:bodyPr anchorCtr="0" anchor="t" bIns="0" lIns="0" spcFirstLastPara="1" rIns="0" wrap="square" tIns="410950">
            <a:spAutoFit/>
          </a:bodyPr>
          <a:lstStyle/>
          <a:p>
            <a:pPr indent="0" lvl="0" marL="200660" rtl="0" algn="l">
              <a:lnSpc>
                <a:spcPct val="100000"/>
              </a:lnSpc>
              <a:spcBef>
                <a:spcPts val="0"/>
              </a:spcBef>
              <a:spcAft>
                <a:spcPts val="0"/>
              </a:spcAft>
              <a:buNone/>
            </a:pPr>
            <a:r>
              <a:rPr lang="en-US" sz="3900"/>
              <a:t>LITERATURE SURVEY</a:t>
            </a:r>
            <a:endParaRPr sz="3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graphicFrame>
        <p:nvGraphicFramePr>
          <p:cNvPr id="71" name="Google Shape;71;p11"/>
          <p:cNvGraphicFramePr/>
          <p:nvPr/>
        </p:nvGraphicFramePr>
        <p:xfrm>
          <a:off x="732438" y="1427988"/>
          <a:ext cx="3000000" cy="3000000"/>
        </p:xfrm>
        <a:graphic>
          <a:graphicData uri="http://schemas.openxmlformats.org/drawingml/2006/table">
            <a:tbl>
              <a:tblPr bandRow="1" firstRow="1">
                <a:noFill/>
                <a:tableStyleId>{59B65767-FECF-45E2-A766-967CE181A3B7}</a:tableStyleId>
              </a:tblPr>
              <a:tblGrid>
                <a:gridCol w="2456175"/>
                <a:gridCol w="1444000"/>
                <a:gridCol w="1857375"/>
                <a:gridCol w="5346700"/>
              </a:tblGrid>
              <a:tr h="458525">
                <a:tc>
                  <a:txBody>
                    <a:bodyPr/>
                    <a:lstStyle/>
                    <a:p>
                      <a:pPr indent="0" lvl="0" marL="745490"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Paper Title</a:t>
                      </a:r>
                      <a:endParaRPr sz="1600" u="none" cap="none" strike="noStrike">
                        <a:latin typeface="Times New Roman"/>
                        <a:ea typeface="Times New Roman"/>
                        <a:cs typeface="Times New Roman"/>
                        <a:sym typeface="Times New Roman"/>
                      </a:endParaRPr>
                    </a:p>
                  </a:txBody>
                  <a:tcPr marT="984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rPr b="1" lang="en-US" sz="1700" u="none" cap="none" strike="noStrike">
                          <a:latin typeface="Times New Roman"/>
                          <a:ea typeface="Times New Roman"/>
                          <a:cs typeface="Times New Roman"/>
                          <a:sym typeface="Times New Roman"/>
                        </a:rPr>
                        <a:t>Publisher</a:t>
                      </a:r>
                      <a:endParaRPr sz="1700" u="none" cap="none" strike="noStrike">
                        <a:latin typeface="Times New Roman"/>
                        <a:ea typeface="Times New Roman"/>
                        <a:cs typeface="Times New Roman"/>
                        <a:sym typeface="Times New Roman"/>
                      </a:endParaRPr>
                    </a:p>
                  </a:txBody>
                  <a:tcPr marT="901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550545" marR="0" rtl="0" algn="l">
                        <a:lnSpc>
                          <a:spcPct val="100000"/>
                        </a:lnSpc>
                        <a:spcBef>
                          <a:spcPts val="0"/>
                        </a:spcBef>
                        <a:spcAft>
                          <a:spcPts val="0"/>
                        </a:spcAft>
                        <a:buNone/>
                      </a:pPr>
                      <a:r>
                        <a:rPr b="1" lang="en-US" sz="1700" u="none" cap="none" strike="noStrike">
                          <a:latin typeface="Times New Roman"/>
                          <a:ea typeface="Times New Roman"/>
                          <a:cs typeface="Times New Roman"/>
                          <a:sym typeface="Times New Roman"/>
                        </a:rPr>
                        <a:t>Authors</a:t>
                      </a:r>
                      <a:endParaRPr sz="1700" u="none" cap="none" strike="noStrike">
                        <a:latin typeface="Times New Roman"/>
                        <a:ea typeface="Times New Roman"/>
                        <a:cs typeface="Times New Roman"/>
                        <a:sym typeface="Times New Roman"/>
                      </a:endParaRPr>
                    </a:p>
                  </a:txBody>
                  <a:tcPr marT="901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Summary</a:t>
                      </a:r>
                      <a:endParaRPr sz="1800" u="none" cap="none" strike="noStrike">
                        <a:latin typeface="Times New Roman"/>
                        <a:ea typeface="Times New Roman"/>
                        <a:cs typeface="Times New Roman"/>
                        <a:sym typeface="Times New Roman"/>
                      </a:endParaRPr>
                    </a:p>
                  </a:txBody>
                  <a:tcPr marT="819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465325">
                <a:tc>
                  <a:txBody>
                    <a:bodyPr/>
                    <a:lstStyle/>
                    <a:p>
                      <a:pPr indent="0" lvl="0" marL="0" marR="0" rtl="0" algn="ctr">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p>
                      <a:pPr indent="0" lvl="0" marL="85725" marR="301625" rtl="0" algn="just">
                        <a:lnSpc>
                          <a:spcPct val="100000"/>
                        </a:lnSpc>
                        <a:spcBef>
                          <a:spcPts val="0"/>
                        </a:spcBef>
                        <a:spcAft>
                          <a:spcPts val="0"/>
                        </a:spcAft>
                        <a:buNone/>
                      </a:pPr>
                      <a:r>
                        <a:rPr lang="en-US" sz="1700">
                          <a:solidFill>
                            <a:srgbClr val="333333"/>
                          </a:solidFill>
                          <a:latin typeface="Times New Roman"/>
                          <a:ea typeface="Times New Roman"/>
                          <a:cs typeface="Times New Roman"/>
                          <a:sym typeface="Times New Roman"/>
                        </a:rPr>
                        <a:t>Development of an AI-Based Cybersecurity Framework for Reliable Smart Grid Energy Management</a:t>
                      </a:r>
                      <a:endParaRPr sz="1700" u="none" cap="none" strike="noStrike">
                        <a:latin typeface="Times New Roman"/>
                        <a:ea typeface="Times New Roman"/>
                        <a:cs typeface="Times New Roman"/>
                        <a:sym typeface="Times New Roman"/>
                      </a:endParaRPr>
                    </a:p>
                  </a:txBody>
                  <a:tcPr marT="336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1075"/>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IEEE-20</a:t>
                      </a:r>
                      <a:r>
                        <a:rPr lang="en-US">
                          <a:latin typeface="Times New Roman"/>
                          <a:ea typeface="Times New Roman"/>
                          <a:cs typeface="Times New Roman"/>
                          <a:sym typeface="Times New Roman"/>
                        </a:rPr>
                        <a:t>25</a:t>
                      </a:r>
                      <a:endParaRPr sz="14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t/>
                      </a:r>
                      <a:endParaRPr sz="13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sz="13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sz="1300" u="none" cap="none" strike="noStrike">
                        <a:latin typeface="Times New Roman"/>
                        <a:ea typeface="Times New Roman"/>
                        <a:cs typeface="Times New Roman"/>
                        <a:sym typeface="Times New Roman"/>
                      </a:endParaRPr>
                    </a:p>
                    <a:p>
                      <a:pPr indent="0" lvl="0" marL="0" marR="0" rtl="0" algn="ctr">
                        <a:lnSpc>
                          <a:spcPct val="100000"/>
                        </a:lnSpc>
                        <a:spcBef>
                          <a:spcPts val="819"/>
                        </a:spcBef>
                        <a:spcAft>
                          <a:spcPts val="0"/>
                        </a:spcAft>
                        <a:buNone/>
                      </a:pPr>
                      <a:r>
                        <a:t/>
                      </a:r>
                      <a:endParaRPr sz="1300" u="none" cap="none" strike="noStrike">
                        <a:latin typeface="Times New Roman"/>
                        <a:ea typeface="Times New Roman"/>
                        <a:cs typeface="Times New Roman"/>
                        <a:sym typeface="Times New Roman"/>
                      </a:endParaRPr>
                    </a:p>
                    <a:p>
                      <a:pPr indent="-144780" lvl="0" marL="410208" marR="258445" rtl="0" algn="ctr">
                        <a:lnSpc>
                          <a:spcPct val="100000"/>
                        </a:lnSpc>
                        <a:spcBef>
                          <a:spcPts val="0"/>
                        </a:spcBef>
                        <a:spcAft>
                          <a:spcPts val="0"/>
                        </a:spcAft>
                        <a:buNone/>
                      </a:pPr>
                      <a:r>
                        <a:rPr lang="en-US" sz="1300">
                          <a:latin typeface="Times New Roman"/>
                          <a:ea typeface="Times New Roman"/>
                          <a:cs typeface="Times New Roman"/>
                          <a:sym typeface="Times New Roman"/>
                        </a:rPr>
                        <a:t>Dr. Uppin Chandrashekhar,Salvadi kasturi</a:t>
                      </a:r>
                      <a:endParaRPr sz="13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457200" marR="487680" rtl="0" algn="just">
                        <a:lnSpc>
                          <a:spcPct val="114999"/>
                        </a:lnSpc>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This paper proposes a real-time AI-based cybersecurity framework for smart grids by integrating machine learning and models such as SVM, Random Forest, ANN, and LSTM</a:t>
                      </a:r>
                      <a:endParaRPr sz="1300">
                        <a:latin typeface="Times New Roman"/>
                        <a:ea typeface="Times New Roman"/>
                        <a:cs typeface="Times New Roman"/>
                        <a:sym typeface="Times New Roman"/>
                      </a:endParaRPr>
                    </a:p>
                    <a:p>
                      <a:pPr indent="0" lvl="0" marL="457200" marR="487680" rtl="0" algn="just">
                        <a:lnSpc>
                          <a:spcPct val="114999"/>
                        </a:lnSpc>
                        <a:spcBef>
                          <a:spcPts val="0"/>
                        </a:spcBef>
                        <a:spcAft>
                          <a:spcPts val="0"/>
                        </a:spcAft>
                        <a:buNone/>
                      </a:pPr>
                      <a:r>
                        <a:rPr lang="en-US" sz="1300">
                          <a:latin typeface="Times New Roman"/>
                          <a:ea typeface="Times New Roman"/>
                          <a:cs typeface="Times New Roman"/>
                          <a:sym typeface="Times New Roman"/>
                        </a:rPr>
                        <a:t>the framework performs intrusion detection using network and device-level data, supported by feature selection and dimensionality reduction. LSTM effectively captures temporal patterns in smart grid data, while Random Forest provides robust classification with low false positives. Integration with EMS enables automated threat response.</a:t>
                      </a:r>
                      <a:endParaRPr sz="1300">
                        <a:latin typeface="Times New Roman"/>
                        <a:ea typeface="Times New Roman"/>
                        <a:cs typeface="Times New Roman"/>
                        <a:sym typeface="Times New Roman"/>
                      </a:endParaRPr>
                    </a:p>
                  </a:txBody>
                  <a:tcPr marT="1181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032250">
                <a:tc>
                  <a:txBody>
                    <a:bodyPr/>
                    <a:lstStyle/>
                    <a:p>
                      <a:pPr indent="0" lvl="0" marL="85725" marR="264795" rtl="0" algn="just">
                        <a:lnSpc>
                          <a:spcPct val="100000"/>
                        </a:lnSpc>
                        <a:spcBef>
                          <a:spcPts val="0"/>
                        </a:spcBef>
                        <a:spcAft>
                          <a:spcPts val="0"/>
                        </a:spcAft>
                        <a:buNone/>
                      </a:pPr>
                      <a:r>
                        <a:rPr lang="en-US" sz="1700">
                          <a:solidFill>
                            <a:srgbClr val="333333"/>
                          </a:solidFill>
                          <a:latin typeface="Times New Roman"/>
                          <a:ea typeface="Times New Roman"/>
                          <a:cs typeface="Times New Roman"/>
                          <a:sym typeface="Times New Roman"/>
                        </a:rPr>
                        <a:t>A Comprehensive Review of Machine Learning and Deep Learning-Based Intrusion Detection Systems</a:t>
                      </a:r>
                      <a:endParaRPr sz="1700" u="none" cap="none" strike="noStrike">
                        <a:latin typeface="Times New Roman"/>
                        <a:ea typeface="Times New Roman"/>
                        <a:cs typeface="Times New Roman"/>
                        <a:sym typeface="Times New Roman"/>
                      </a:endParaRPr>
                    </a:p>
                  </a:txBody>
                  <a:tcPr marT="825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154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lang="en-US" sz="1400" u="none" cap="none" strike="noStrike">
                          <a:latin typeface="Times New Roman"/>
                          <a:ea typeface="Times New Roman"/>
                          <a:cs typeface="Times New Roman"/>
                          <a:sym typeface="Times New Roman"/>
                        </a:rPr>
                        <a:t>IEEE-20</a:t>
                      </a:r>
                      <a:r>
                        <a:rPr lang="en-US">
                          <a:latin typeface="Times New Roman"/>
                          <a:ea typeface="Times New Roman"/>
                          <a:cs typeface="Times New Roman"/>
                          <a:sym typeface="Times New Roman"/>
                        </a:rPr>
                        <a:t>25</a:t>
                      </a:r>
                      <a:endParaRPr sz="14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700"/>
                        </a:spcBef>
                        <a:spcAft>
                          <a:spcPts val="0"/>
                        </a:spcAft>
                        <a:buNone/>
                      </a:pPr>
                      <a:r>
                        <a:rPr lang="en-US">
                          <a:latin typeface="Times New Roman"/>
                          <a:ea typeface="Times New Roman"/>
                          <a:cs typeface="Times New Roman"/>
                          <a:sym typeface="Times New Roman"/>
                        </a:rPr>
                        <a:t>V Ebenezer,Divya M K</a:t>
                      </a:r>
                      <a:endParaRPr sz="1400" u="none" cap="none" strike="noStrike">
                        <a:latin typeface="Times New Roman"/>
                        <a:ea typeface="Times New Roman"/>
                        <a:cs typeface="Times New Roman"/>
                        <a:sym typeface="Times New Roman"/>
                      </a:endParaRPr>
                    </a:p>
                    <a:p>
                      <a:pPr indent="-202565" lvl="0" marL="370205" marR="161925" rtl="0" algn="ctr">
                        <a:lnSpc>
                          <a:spcPct val="100000"/>
                        </a:lnSpc>
                        <a:spcBef>
                          <a:spcPts val="5"/>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ctr">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p>
                      <a:pPr indent="0" lvl="0" marL="457200" marR="0" rtl="0" algn="just">
                        <a:lnSpc>
                          <a:spcPct val="100000"/>
                        </a:lnSpc>
                        <a:spcBef>
                          <a:spcPts val="195"/>
                        </a:spcBef>
                        <a:spcAft>
                          <a:spcPts val="0"/>
                        </a:spcAft>
                        <a:buNone/>
                      </a:pPr>
                      <a:r>
                        <a:rPr lang="en-US" sz="1300">
                          <a:latin typeface="Times New Roman"/>
                          <a:ea typeface="Times New Roman"/>
                          <a:cs typeface="Times New Roman"/>
                          <a:sym typeface="Times New Roman"/>
                        </a:rPr>
                        <a:t>This paper categorizes IDS approaches into signature-based and anomaly-based methods and highlights the superiority of ML/DL techniques in detecting unknown and zero-day attacks. Models such as Random Forest, SVM, CNN, and LSTM are analyzed for their effectiveness in handling high-dimensional and time-dependent network data. The paper identifies key challenges including scalability, data imbalance, high false-alarm rates, and lack of real-time adaptability.</a:t>
                      </a:r>
                      <a:endParaRPr sz="1300">
                        <a:latin typeface="Times New Roman"/>
                        <a:ea typeface="Times New Roman"/>
                        <a:cs typeface="Times New Roman"/>
                        <a:sym typeface="Times New Roman"/>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sp>
        <p:nvSpPr>
          <p:cNvPr descr="$PPTXTitle" id="72" name="Google Shape;72;p11"/>
          <p:cNvSpPr txBox="1"/>
          <p:nvPr>
            <p:ph type="title"/>
          </p:nvPr>
        </p:nvSpPr>
        <p:spPr>
          <a:xfrm>
            <a:off x="3265150" y="78300"/>
            <a:ext cx="5959200" cy="1015500"/>
          </a:xfrm>
          <a:prstGeom prst="rect">
            <a:avLst/>
          </a:prstGeom>
          <a:noFill/>
          <a:ln>
            <a:noFill/>
          </a:ln>
        </p:spPr>
        <p:txBody>
          <a:bodyPr anchorCtr="0" anchor="t" bIns="0" lIns="0" spcFirstLastPara="1" rIns="0" wrap="square" tIns="410950">
            <a:spAutoFit/>
          </a:bodyPr>
          <a:lstStyle/>
          <a:p>
            <a:pPr indent="0" lvl="0" marL="200660" rtl="0" algn="l">
              <a:lnSpc>
                <a:spcPct val="100000"/>
              </a:lnSpc>
              <a:spcBef>
                <a:spcPts val="0"/>
              </a:spcBef>
              <a:spcAft>
                <a:spcPts val="0"/>
              </a:spcAft>
              <a:buNone/>
            </a:pPr>
            <a:r>
              <a:rPr lang="en-US" sz="3900"/>
              <a:t>LITERATURE SURVEY</a:t>
            </a:r>
            <a:endParaRPr sz="3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descr="$PPTXTitle" id="77" name="Google Shape;77;p12"/>
          <p:cNvSpPr txBox="1"/>
          <p:nvPr>
            <p:ph type="title"/>
          </p:nvPr>
        </p:nvSpPr>
        <p:spPr>
          <a:xfrm>
            <a:off x="3281300" y="377502"/>
            <a:ext cx="5297100" cy="1015500"/>
          </a:xfrm>
          <a:prstGeom prst="rect">
            <a:avLst/>
          </a:prstGeom>
          <a:noFill/>
          <a:ln>
            <a:noFill/>
          </a:ln>
        </p:spPr>
        <p:txBody>
          <a:bodyPr anchorCtr="0" anchor="t" bIns="0" lIns="0" spcFirstLastPara="1" rIns="0" wrap="square" tIns="410950">
            <a:spAutoFit/>
          </a:bodyPr>
          <a:lstStyle/>
          <a:p>
            <a:pPr indent="0" lvl="0" marL="200660" rtl="0" algn="ctr">
              <a:lnSpc>
                <a:spcPct val="100000"/>
              </a:lnSpc>
              <a:spcBef>
                <a:spcPts val="0"/>
              </a:spcBef>
              <a:spcAft>
                <a:spcPts val="0"/>
              </a:spcAft>
              <a:buNone/>
            </a:pPr>
            <a:r>
              <a:rPr lang="en-US" sz="3900"/>
              <a:t>RESEARCH GAP</a:t>
            </a:r>
            <a:endParaRPr sz="3900"/>
          </a:p>
        </p:txBody>
      </p:sp>
      <p:sp>
        <p:nvSpPr>
          <p:cNvPr id="78" name="Google Shape;78;p12"/>
          <p:cNvSpPr txBox="1"/>
          <p:nvPr/>
        </p:nvSpPr>
        <p:spPr>
          <a:xfrm>
            <a:off x="1307800" y="2006675"/>
            <a:ext cx="10494300" cy="4002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Char char="●"/>
            </a:pPr>
            <a:r>
              <a:rPr lang="en-US" sz="2000">
                <a:solidFill>
                  <a:schemeClr val="dk1"/>
                </a:solidFill>
              </a:rPr>
              <a:t>Most existing approaches treat </a:t>
            </a:r>
            <a:r>
              <a:rPr b="1" lang="en-US" sz="2000">
                <a:solidFill>
                  <a:schemeClr val="dk1"/>
                </a:solidFill>
              </a:rPr>
              <a:t>cyber and physical anomaly detection independently</a:t>
            </a:r>
            <a:r>
              <a:rPr lang="en-US" sz="2000">
                <a:solidFill>
                  <a:schemeClr val="dk1"/>
                </a:solidFill>
              </a:rPr>
              <a:t>, ignoring their interdependence in cyber-physical systems.</a:t>
            </a:r>
            <a:br>
              <a:rPr lang="en-US" sz="2000">
                <a:solidFill>
                  <a:schemeClr val="dk1"/>
                </a:solidFill>
              </a:rPr>
            </a:b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Many methods rely on </a:t>
            </a:r>
            <a:r>
              <a:rPr b="1" lang="en-US" sz="2000">
                <a:solidFill>
                  <a:schemeClr val="dk1"/>
                </a:solidFill>
              </a:rPr>
              <a:t>single-model detection</a:t>
            </a:r>
            <a:r>
              <a:rPr lang="en-US" sz="2000">
                <a:solidFill>
                  <a:schemeClr val="dk1"/>
                </a:solidFill>
              </a:rPr>
              <a:t>, which limits robustness against diverse and evolving anomaly patterns.</a:t>
            </a:r>
            <a:br>
              <a:rPr lang="en-US" sz="2000">
                <a:solidFill>
                  <a:schemeClr val="dk1"/>
                </a:solidFill>
              </a:rPr>
            </a:b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Temporal behavior is often underutilized, leading to </a:t>
            </a:r>
            <a:r>
              <a:rPr b="1" lang="en-US" sz="2000">
                <a:solidFill>
                  <a:schemeClr val="dk1"/>
                </a:solidFill>
              </a:rPr>
              <a:t>poor discrimination between transient fluctuations and true anomalies</a:t>
            </a:r>
            <a:r>
              <a:rPr lang="en-US" sz="2000">
                <a:solidFill>
                  <a:schemeClr val="dk1"/>
                </a:solidFill>
              </a:rPr>
              <a:t>.</a:t>
            </a:r>
            <a:br>
              <a:rPr lang="en-US" sz="2000">
                <a:solidFill>
                  <a:schemeClr val="dk1"/>
                </a:solidFill>
              </a:rPr>
            </a:b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Limited emphasis is placed on </a:t>
            </a:r>
            <a:r>
              <a:rPr b="1" lang="en-US" sz="2000">
                <a:solidFill>
                  <a:schemeClr val="dk1"/>
                </a:solidFill>
              </a:rPr>
              <a:t>severity assessment and interpretability</a:t>
            </a:r>
            <a:r>
              <a:rPr lang="en-US" sz="2000">
                <a:solidFill>
                  <a:schemeClr val="dk1"/>
                </a:solidFill>
              </a:rPr>
              <a:t>, reducing the usefulness of detection results for operational decision-making.</a:t>
            </a:r>
            <a:endParaRPr sz="2000">
              <a:solidFill>
                <a:schemeClr val="dk1"/>
              </a:solidFill>
            </a:endParaRPr>
          </a:p>
          <a:p>
            <a:pPr indent="0" lvl="0" marL="457200" rtl="0" algn="l">
              <a:spcBef>
                <a:spcPts val="0"/>
              </a:spcBef>
              <a:spcAft>
                <a:spcPts val="0"/>
              </a:spcAft>
              <a:buNone/>
            </a:pPr>
            <a:r>
              <a:t/>
            </a:r>
            <a:endParaRPr sz="2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descr="$PPTXTitle" id="83" name="Google Shape;83;p13"/>
          <p:cNvSpPr txBox="1"/>
          <p:nvPr>
            <p:ph type="title"/>
          </p:nvPr>
        </p:nvSpPr>
        <p:spPr>
          <a:xfrm>
            <a:off x="3445300" y="591751"/>
            <a:ext cx="4523100" cy="489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PROBLEM STATEMENT</a:t>
            </a:r>
            <a:endParaRPr/>
          </a:p>
        </p:txBody>
      </p:sp>
      <p:sp>
        <p:nvSpPr>
          <p:cNvPr id="84" name="Google Shape;84;p13"/>
          <p:cNvSpPr txBox="1"/>
          <p:nvPr/>
        </p:nvSpPr>
        <p:spPr>
          <a:xfrm>
            <a:off x="793000" y="2858850"/>
            <a:ext cx="9827700" cy="1074900"/>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lang="en-US" sz="2300">
                <a:solidFill>
                  <a:schemeClr val="dk1"/>
                </a:solidFill>
              </a:rPr>
              <a:t>Current monitoring systems struggle to reliably distinguish normal operational variations from malicious or faulty behavior in time-series cyber and power grid data, resulting in false alarms and missed anomalies.</a:t>
            </a:r>
            <a:endParaRPr sz="30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descr="$PPTXTitle" id="89" name="Google Shape;89;p14"/>
          <p:cNvSpPr txBox="1"/>
          <p:nvPr>
            <p:ph type="title"/>
          </p:nvPr>
        </p:nvSpPr>
        <p:spPr>
          <a:xfrm>
            <a:off x="3714625" y="449625"/>
            <a:ext cx="4828200" cy="6285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4000"/>
              <a:t>OBJECTIVE</a:t>
            </a:r>
            <a:endParaRPr sz="4000"/>
          </a:p>
        </p:txBody>
      </p:sp>
      <p:sp>
        <p:nvSpPr>
          <p:cNvPr id="90" name="Google Shape;90;p14"/>
          <p:cNvSpPr txBox="1"/>
          <p:nvPr/>
        </p:nvSpPr>
        <p:spPr>
          <a:xfrm>
            <a:off x="914668" y="1997446"/>
            <a:ext cx="9947400" cy="4746900"/>
          </a:xfrm>
          <a:prstGeom prst="rect">
            <a:avLst/>
          </a:prstGeom>
          <a:noFill/>
          <a:ln>
            <a:noFill/>
          </a:ln>
        </p:spPr>
        <p:txBody>
          <a:bodyPr anchorCtr="0" anchor="t" bIns="0" lIns="0" spcFirstLastPara="1" rIns="0" wrap="square" tIns="12700">
            <a:spAutoFit/>
          </a:bodyPr>
          <a:lstStyle/>
          <a:p>
            <a:pPr indent="-429895" lvl="0" marL="391160" marR="5715" rtl="0" algn="just">
              <a:lnSpc>
                <a:spcPct val="116799"/>
              </a:lnSpc>
              <a:spcBef>
                <a:spcPts val="0"/>
              </a:spcBef>
              <a:spcAft>
                <a:spcPts val="0"/>
              </a:spcAft>
              <a:buSzPts val="2800"/>
              <a:buFont typeface="Arial"/>
              <a:buChar char="●"/>
            </a:pPr>
            <a:r>
              <a:rPr b="1" lang="en-US" sz="1900">
                <a:solidFill>
                  <a:schemeClr val="dk1"/>
                </a:solidFill>
              </a:rPr>
              <a:t>To model normal behavior in cyber traffic</a:t>
            </a:r>
            <a:r>
              <a:rPr lang="en-US" sz="1900">
                <a:solidFill>
                  <a:schemeClr val="dk1"/>
                </a:solidFill>
              </a:rPr>
              <a:t> using time-series learning in order to detect deviations indicative of attacks.</a:t>
            </a:r>
            <a:endParaRPr sz="2700">
              <a:latin typeface="Arial"/>
              <a:ea typeface="Arial"/>
              <a:cs typeface="Arial"/>
              <a:sym typeface="Arial"/>
            </a:endParaRPr>
          </a:p>
          <a:p>
            <a:pPr indent="0" lvl="0" marL="0" rtl="0" algn="l">
              <a:lnSpc>
                <a:spcPct val="100000"/>
              </a:lnSpc>
              <a:spcBef>
                <a:spcPts val="490"/>
              </a:spcBef>
              <a:spcAft>
                <a:spcPts val="0"/>
              </a:spcAft>
              <a:buSzPts val="1900"/>
              <a:buFont typeface="Arial"/>
              <a:buNone/>
            </a:pPr>
            <a:r>
              <a:t/>
            </a:r>
            <a:endParaRPr sz="2700">
              <a:latin typeface="Arial"/>
              <a:ea typeface="Arial"/>
              <a:cs typeface="Arial"/>
              <a:sym typeface="Arial"/>
            </a:endParaRPr>
          </a:p>
          <a:p>
            <a:pPr indent="-429895" lvl="0" marL="391160" marR="10160" rtl="0" algn="just">
              <a:lnSpc>
                <a:spcPct val="116799"/>
              </a:lnSpc>
              <a:spcBef>
                <a:spcPts val="0"/>
              </a:spcBef>
              <a:spcAft>
                <a:spcPts val="0"/>
              </a:spcAft>
              <a:buSzPts val="2800"/>
              <a:buFont typeface="Arial"/>
              <a:buChar char="●"/>
            </a:pPr>
            <a:r>
              <a:rPr b="1" lang="en-US" sz="1900">
                <a:solidFill>
                  <a:schemeClr val="dk1"/>
                </a:solidFill>
              </a:rPr>
              <a:t>To identify physical anomalies in power systems</a:t>
            </a:r>
            <a:r>
              <a:rPr lang="en-US" sz="1900">
                <a:solidFill>
                  <a:schemeClr val="dk1"/>
                </a:solidFill>
              </a:rPr>
              <a:t> by predicting expected sensor values and comparing them against real measurements.</a:t>
            </a:r>
            <a:endParaRPr sz="2700">
              <a:latin typeface="Arial"/>
              <a:ea typeface="Arial"/>
              <a:cs typeface="Arial"/>
              <a:sym typeface="Arial"/>
            </a:endParaRPr>
          </a:p>
          <a:p>
            <a:pPr indent="0" lvl="0" marL="0" rtl="0" algn="l">
              <a:lnSpc>
                <a:spcPct val="100000"/>
              </a:lnSpc>
              <a:spcBef>
                <a:spcPts val="495"/>
              </a:spcBef>
              <a:spcAft>
                <a:spcPts val="0"/>
              </a:spcAft>
              <a:buSzPts val="1900"/>
              <a:buFont typeface="Arial"/>
              <a:buNone/>
            </a:pPr>
            <a:r>
              <a:t/>
            </a:r>
            <a:endParaRPr sz="2700">
              <a:latin typeface="Arial"/>
              <a:ea typeface="Arial"/>
              <a:cs typeface="Arial"/>
              <a:sym typeface="Arial"/>
            </a:endParaRPr>
          </a:p>
          <a:p>
            <a:pPr indent="-429895" lvl="0" marL="391160" marR="5080" rtl="0" algn="just">
              <a:lnSpc>
                <a:spcPct val="116799"/>
              </a:lnSpc>
              <a:spcBef>
                <a:spcPts val="0"/>
              </a:spcBef>
              <a:spcAft>
                <a:spcPts val="0"/>
              </a:spcAft>
              <a:buSzPts val="2800"/>
              <a:buFont typeface="Arial"/>
              <a:buChar char="●"/>
            </a:pPr>
            <a:r>
              <a:rPr b="1" lang="en-US" sz="1900">
                <a:solidFill>
                  <a:schemeClr val="dk1"/>
                </a:solidFill>
              </a:rPr>
              <a:t>To improve detection reliability</a:t>
            </a:r>
            <a:r>
              <a:rPr lang="en-US" sz="1900">
                <a:solidFill>
                  <a:schemeClr val="dk1"/>
                </a:solidFill>
              </a:rPr>
              <a:t> through ensemble decision-making across multiple machine learning models.</a:t>
            </a:r>
            <a:endParaRPr sz="2700">
              <a:latin typeface="Arial"/>
              <a:ea typeface="Arial"/>
              <a:cs typeface="Arial"/>
              <a:sym typeface="Arial"/>
            </a:endParaRPr>
          </a:p>
          <a:p>
            <a:pPr indent="0" lvl="0" marL="0" rtl="0" algn="l">
              <a:lnSpc>
                <a:spcPct val="100000"/>
              </a:lnSpc>
              <a:spcBef>
                <a:spcPts val="434"/>
              </a:spcBef>
              <a:spcAft>
                <a:spcPts val="0"/>
              </a:spcAft>
              <a:buSzPts val="1900"/>
              <a:buFont typeface="Arial"/>
              <a:buNone/>
            </a:pPr>
            <a:r>
              <a:t/>
            </a:r>
            <a:endParaRPr sz="2700">
              <a:latin typeface="Arial"/>
              <a:ea typeface="Arial"/>
              <a:cs typeface="Arial"/>
              <a:sym typeface="Arial"/>
            </a:endParaRPr>
          </a:p>
          <a:p>
            <a:pPr indent="-423544" lvl="0" marL="392430" marR="58419" rtl="0" algn="just">
              <a:lnSpc>
                <a:spcPct val="114999"/>
              </a:lnSpc>
              <a:spcBef>
                <a:spcPts val="0"/>
              </a:spcBef>
              <a:spcAft>
                <a:spcPts val="0"/>
              </a:spcAft>
              <a:buSzPts val="2700"/>
              <a:buFont typeface="Arial"/>
              <a:buChar char="●"/>
            </a:pPr>
            <a:r>
              <a:rPr b="1" lang="en-US" sz="1900">
                <a:solidFill>
                  <a:schemeClr val="dk1"/>
                </a:solidFill>
              </a:rPr>
              <a:t>To present detected anomalies as actionable insights</a:t>
            </a:r>
            <a:r>
              <a:rPr lang="en-US" sz="1900">
                <a:solidFill>
                  <a:schemeClr val="dk1"/>
                </a:solidFill>
              </a:rPr>
              <a:t> using severity scoring, visualization, and real-time system interfaces.</a:t>
            </a:r>
            <a:endParaRPr sz="27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5"/>
          <p:cNvSpPr txBox="1"/>
          <p:nvPr>
            <p:ph type="title"/>
          </p:nvPr>
        </p:nvSpPr>
        <p:spPr>
          <a:xfrm>
            <a:off x="3581400" y="304800"/>
            <a:ext cx="5297100" cy="600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3900"/>
              <a:t>METHODOLOGY</a:t>
            </a:r>
            <a:endParaRPr sz="3900"/>
          </a:p>
        </p:txBody>
      </p:sp>
      <p:pic>
        <p:nvPicPr>
          <p:cNvPr id="96" name="Google Shape;96;p15"/>
          <p:cNvPicPr preferRelativeResize="0"/>
          <p:nvPr/>
        </p:nvPicPr>
        <p:blipFill>
          <a:blip r:embed="rId3">
            <a:alphaModFix/>
          </a:blip>
          <a:stretch>
            <a:fillRect/>
          </a:stretch>
        </p:blipFill>
        <p:spPr>
          <a:xfrm>
            <a:off x="930825" y="1153800"/>
            <a:ext cx="10598725" cy="54819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6"/>
          <p:cNvPicPr preferRelativeResize="0"/>
          <p:nvPr/>
        </p:nvPicPr>
        <p:blipFill>
          <a:blip r:embed="rId3">
            <a:alphaModFix/>
          </a:blip>
          <a:stretch>
            <a:fillRect/>
          </a:stretch>
        </p:blipFill>
        <p:spPr>
          <a:xfrm>
            <a:off x="1039225" y="1312175"/>
            <a:ext cx="9946575" cy="5429826"/>
          </a:xfrm>
          <a:prstGeom prst="rect">
            <a:avLst/>
          </a:prstGeom>
          <a:noFill/>
          <a:ln>
            <a:noFill/>
          </a:ln>
        </p:spPr>
      </p:pic>
      <p:sp>
        <p:nvSpPr>
          <p:cNvPr id="102" name="Google Shape;102;p16"/>
          <p:cNvSpPr txBox="1"/>
          <p:nvPr>
            <p:ph type="title"/>
          </p:nvPr>
        </p:nvSpPr>
        <p:spPr>
          <a:xfrm>
            <a:off x="3581400" y="304800"/>
            <a:ext cx="5297100" cy="600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3900"/>
              <a:t>METHODOLOGY</a:t>
            </a:r>
            <a:endParaRPr sz="3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nvSpPr>
        <p:spPr>
          <a:xfrm>
            <a:off x="324175" y="1665775"/>
            <a:ext cx="7611900" cy="48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Cyber Dataset</a:t>
            </a:r>
            <a:endParaRPr b="1" sz="19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Type:</a:t>
            </a:r>
            <a:r>
              <a:rPr lang="en-US" sz="1700">
                <a:solidFill>
                  <a:schemeClr val="dk1"/>
                </a:solidFill>
              </a:rPr>
              <a:t> Network traffic time-series data</a:t>
            </a:r>
            <a:endParaRPr sz="1700">
              <a:solidFill>
                <a:schemeClr val="dk1"/>
              </a:solidFill>
            </a:endParaRPr>
          </a:p>
          <a:p>
            <a:pPr indent="0" lvl="0" marL="457200" rtl="0" algn="l">
              <a:lnSpc>
                <a:spcPct val="115000"/>
              </a:lnSpc>
              <a:spcBef>
                <a:spcPts val="1200"/>
              </a:spcBef>
              <a:spcAft>
                <a:spcPts val="0"/>
              </a:spcAft>
              <a:buNone/>
            </a:pPr>
            <a:r>
              <a:t/>
            </a:r>
            <a:endParaRPr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Features Used:</a:t>
            </a:r>
            <a:endParaRPr b="1"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Timestamp</a:t>
            </a:r>
            <a:endParaRPr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Source_IP, Destination_IP</a:t>
            </a:r>
            <a:endParaRPr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Port, Protocol</a:t>
            </a:r>
            <a:endParaRPr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Packet_Size, Duration</a:t>
            </a:r>
            <a:endParaRPr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Packet_Loss, Latency, Throughput, Jitter</a:t>
            </a:r>
            <a:endParaRPr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Authentication_Failure</a:t>
            </a:r>
            <a:endParaRPr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Attack_Type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Target Label:</a:t>
            </a:r>
            <a:r>
              <a:rPr lang="en-US" sz="1700">
                <a:solidFill>
                  <a:schemeClr val="dk1"/>
                </a:solidFill>
              </a:rPr>
              <a:t> </a:t>
            </a:r>
            <a:r>
              <a:rPr lang="en-US" sz="1700">
                <a:solidFill>
                  <a:srgbClr val="188038"/>
                </a:solidFill>
                <a:latin typeface="Roboto Mono"/>
                <a:ea typeface="Roboto Mono"/>
                <a:cs typeface="Roboto Mono"/>
                <a:sym typeface="Roboto Mono"/>
              </a:rPr>
              <a:t>Is_Attack</a:t>
            </a:r>
            <a:r>
              <a:rPr lang="en-US" sz="1700">
                <a:solidFill>
                  <a:schemeClr val="dk1"/>
                </a:solidFill>
              </a:rPr>
              <a:t> (Normal / Attack)</a:t>
            </a:r>
            <a:endParaRPr sz="1700">
              <a:solidFill>
                <a:schemeClr val="dk1"/>
              </a:solidFill>
            </a:endParaRPr>
          </a:p>
          <a:p>
            <a:pPr indent="0" lvl="0" marL="0" rtl="0" algn="l">
              <a:spcBef>
                <a:spcPts val="1200"/>
              </a:spcBef>
              <a:spcAft>
                <a:spcPts val="0"/>
              </a:spcAft>
              <a:buNone/>
            </a:pPr>
            <a:r>
              <a:t/>
            </a:r>
            <a:endParaRPr sz="2500">
              <a:solidFill>
                <a:schemeClr val="dk1"/>
              </a:solidFill>
            </a:endParaRPr>
          </a:p>
        </p:txBody>
      </p:sp>
      <p:sp>
        <p:nvSpPr>
          <p:cNvPr id="108" name="Google Shape;108;p17"/>
          <p:cNvSpPr txBox="1"/>
          <p:nvPr/>
        </p:nvSpPr>
        <p:spPr>
          <a:xfrm>
            <a:off x="5657475" y="1959775"/>
            <a:ext cx="6231900" cy="453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Physical Dataset</a:t>
            </a:r>
            <a:endParaRPr b="1" sz="19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Type:</a:t>
            </a:r>
            <a:r>
              <a:rPr lang="en-US" sz="1700">
                <a:solidFill>
                  <a:schemeClr val="dk1"/>
                </a:solidFill>
              </a:rPr>
              <a:t> Power grid sensor measurements</a:t>
            </a:r>
            <a:endParaRPr sz="1700">
              <a:solidFill>
                <a:schemeClr val="dk1"/>
              </a:solidFill>
            </a:endParaRPr>
          </a:p>
          <a:p>
            <a:pPr indent="0" lvl="0" marL="457200" rtl="0" algn="l">
              <a:lnSpc>
                <a:spcPct val="115000"/>
              </a:lnSpc>
              <a:spcBef>
                <a:spcPts val="1200"/>
              </a:spcBef>
              <a:spcAft>
                <a:spcPts val="0"/>
              </a:spcAft>
              <a:buNone/>
            </a:pPr>
            <a:r>
              <a:t/>
            </a:r>
            <a:endParaRPr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Features Used:</a:t>
            </a:r>
            <a:endParaRPr b="1"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Timestamp</a:t>
            </a:r>
            <a:endParaRPr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Sensor_ID, Location</a:t>
            </a:r>
            <a:endParaRPr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Voltage (V), Current (A), Power (kW)</a:t>
            </a:r>
            <a:endParaRPr sz="1700">
              <a:solidFill>
                <a:schemeClr val="dk1"/>
              </a:solidFill>
            </a:endParaRPr>
          </a:p>
          <a:p>
            <a:pPr indent="-336550" lvl="1" marL="914400" rtl="0" algn="l">
              <a:lnSpc>
                <a:spcPct val="115000"/>
              </a:lnSpc>
              <a:spcBef>
                <a:spcPts val="0"/>
              </a:spcBef>
              <a:spcAft>
                <a:spcPts val="0"/>
              </a:spcAft>
              <a:buClr>
                <a:schemeClr val="dk1"/>
              </a:buClr>
              <a:buSzPts val="1700"/>
              <a:buChar char="○"/>
            </a:pPr>
            <a:r>
              <a:rPr lang="en-US" sz="1700">
                <a:solidFill>
                  <a:schemeClr val="dk1"/>
                </a:solidFill>
              </a:rPr>
              <a:t>Frequency (Hz), Power_Factor</a:t>
            </a:r>
            <a:endParaRPr sz="1700">
              <a:solidFill>
                <a:schemeClr val="dk1"/>
              </a:solidFill>
            </a:endParaRPr>
          </a:p>
          <a:p>
            <a:pPr indent="0" lvl="0" marL="914400" rtl="0" algn="l">
              <a:lnSpc>
                <a:spcPct val="115000"/>
              </a:lnSpc>
              <a:spcBef>
                <a:spcPts val="1200"/>
              </a:spcBef>
              <a:spcAft>
                <a:spcPts val="0"/>
              </a:spcAft>
              <a:buNone/>
            </a:pPr>
            <a:r>
              <a:t/>
            </a:r>
            <a:endParaRPr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Target Label:</a:t>
            </a:r>
            <a:r>
              <a:rPr lang="en-US" sz="1700">
                <a:solidFill>
                  <a:schemeClr val="dk1"/>
                </a:solidFill>
              </a:rPr>
              <a:t> </a:t>
            </a:r>
            <a:r>
              <a:rPr lang="en-US" sz="1700">
                <a:solidFill>
                  <a:srgbClr val="188038"/>
                </a:solidFill>
                <a:latin typeface="Roboto Mono"/>
                <a:ea typeface="Roboto Mono"/>
                <a:cs typeface="Roboto Mono"/>
                <a:sym typeface="Roboto Mono"/>
              </a:rPr>
              <a:t>Anomaly_Label</a:t>
            </a:r>
            <a:r>
              <a:rPr lang="en-US" sz="1700">
                <a:solidFill>
                  <a:schemeClr val="dk1"/>
                </a:solidFill>
              </a:rPr>
              <a:t> (Normal / Anomaly)</a:t>
            </a:r>
            <a:endParaRPr sz="1700">
              <a:solidFill>
                <a:schemeClr val="dk1"/>
              </a:solidFill>
            </a:endParaRPr>
          </a:p>
          <a:p>
            <a:pPr indent="0" lvl="0" marL="0" rtl="0" algn="l">
              <a:spcBef>
                <a:spcPts val="1200"/>
              </a:spcBef>
              <a:spcAft>
                <a:spcPts val="0"/>
              </a:spcAft>
              <a:buNone/>
            </a:pPr>
            <a:r>
              <a:t/>
            </a:r>
            <a:endParaRPr sz="2500">
              <a:solidFill>
                <a:schemeClr val="dk1"/>
              </a:solidFill>
            </a:endParaRPr>
          </a:p>
        </p:txBody>
      </p:sp>
      <p:sp>
        <p:nvSpPr>
          <p:cNvPr id="109" name="Google Shape;109;p17"/>
          <p:cNvSpPr txBox="1"/>
          <p:nvPr>
            <p:ph type="title"/>
          </p:nvPr>
        </p:nvSpPr>
        <p:spPr>
          <a:xfrm>
            <a:off x="3581400" y="304800"/>
            <a:ext cx="5297100" cy="600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3900"/>
              <a:t>METHODOLOGY</a:t>
            </a:r>
            <a:endParaRPr sz="3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descr="$PPTXTitle" id="114" name="Google Shape;114;p18"/>
          <p:cNvSpPr txBox="1"/>
          <p:nvPr>
            <p:ph type="title"/>
          </p:nvPr>
        </p:nvSpPr>
        <p:spPr>
          <a:xfrm>
            <a:off x="4572000" y="304800"/>
            <a:ext cx="2670900" cy="6285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4000"/>
              <a:t>RESULTS</a:t>
            </a:r>
            <a:endParaRPr sz="4000"/>
          </a:p>
        </p:txBody>
      </p:sp>
      <p:pic>
        <p:nvPicPr>
          <p:cNvPr id="115" name="Google Shape;115;p18"/>
          <p:cNvPicPr preferRelativeResize="0"/>
          <p:nvPr/>
        </p:nvPicPr>
        <p:blipFill>
          <a:blip r:embed="rId3">
            <a:alphaModFix/>
          </a:blip>
          <a:stretch>
            <a:fillRect/>
          </a:stretch>
        </p:blipFill>
        <p:spPr>
          <a:xfrm>
            <a:off x="866775" y="1578675"/>
            <a:ext cx="5124450" cy="3200400"/>
          </a:xfrm>
          <a:prstGeom prst="rect">
            <a:avLst/>
          </a:prstGeom>
          <a:noFill/>
          <a:ln>
            <a:noFill/>
          </a:ln>
        </p:spPr>
      </p:pic>
      <p:sp>
        <p:nvSpPr>
          <p:cNvPr id="116" name="Google Shape;116;p18"/>
          <p:cNvSpPr txBox="1"/>
          <p:nvPr/>
        </p:nvSpPr>
        <p:spPr>
          <a:xfrm>
            <a:off x="1858750" y="5225400"/>
            <a:ext cx="22908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rPr>
              <a:t>For Physical</a:t>
            </a:r>
            <a:endParaRPr sz="1900">
              <a:solidFill>
                <a:schemeClr val="dk1"/>
              </a:solidFill>
            </a:endParaRPr>
          </a:p>
        </p:txBody>
      </p:sp>
      <p:sp>
        <p:nvSpPr>
          <p:cNvPr id="117" name="Google Shape;117;p18"/>
          <p:cNvSpPr txBox="1"/>
          <p:nvPr/>
        </p:nvSpPr>
        <p:spPr>
          <a:xfrm>
            <a:off x="7405025" y="5225400"/>
            <a:ext cx="2863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rPr>
              <a:t>For Cyber</a:t>
            </a:r>
            <a:endParaRPr sz="1900">
              <a:solidFill>
                <a:schemeClr val="dk1"/>
              </a:solidFill>
            </a:endParaRPr>
          </a:p>
        </p:txBody>
      </p:sp>
      <p:pic>
        <p:nvPicPr>
          <p:cNvPr id="118" name="Google Shape;118;p18"/>
          <p:cNvPicPr preferRelativeResize="0"/>
          <p:nvPr/>
        </p:nvPicPr>
        <p:blipFill>
          <a:blip r:embed="rId4">
            <a:alphaModFix/>
          </a:blip>
          <a:stretch>
            <a:fillRect/>
          </a:stretch>
        </p:blipFill>
        <p:spPr>
          <a:xfrm>
            <a:off x="6209575" y="1578675"/>
            <a:ext cx="5711450" cy="3200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descr="$PPTXTitle" id="123" name="Google Shape;123;p19"/>
          <p:cNvSpPr txBox="1"/>
          <p:nvPr>
            <p:ph type="title"/>
          </p:nvPr>
        </p:nvSpPr>
        <p:spPr>
          <a:xfrm>
            <a:off x="4572000" y="304800"/>
            <a:ext cx="2670900" cy="6285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4000"/>
              <a:t>RESULTS</a:t>
            </a:r>
            <a:endParaRPr sz="4000"/>
          </a:p>
        </p:txBody>
      </p:sp>
      <p:pic>
        <p:nvPicPr>
          <p:cNvPr id="124" name="Google Shape;124;p19"/>
          <p:cNvPicPr preferRelativeResize="0"/>
          <p:nvPr/>
        </p:nvPicPr>
        <p:blipFill>
          <a:blip r:embed="rId3">
            <a:alphaModFix/>
          </a:blip>
          <a:stretch>
            <a:fillRect/>
          </a:stretch>
        </p:blipFill>
        <p:spPr>
          <a:xfrm>
            <a:off x="195875" y="2079151"/>
            <a:ext cx="5838576" cy="4327225"/>
          </a:xfrm>
          <a:prstGeom prst="rect">
            <a:avLst/>
          </a:prstGeom>
          <a:noFill/>
          <a:ln>
            <a:noFill/>
          </a:ln>
        </p:spPr>
      </p:pic>
      <p:pic>
        <p:nvPicPr>
          <p:cNvPr id="125" name="Google Shape;125;p19"/>
          <p:cNvPicPr preferRelativeResize="0"/>
          <p:nvPr/>
        </p:nvPicPr>
        <p:blipFill>
          <a:blip r:embed="rId4">
            <a:alphaModFix/>
          </a:blip>
          <a:stretch>
            <a:fillRect/>
          </a:stretch>
        </p:blipFill>
        <p:spPr>
          <a:xfrm>
            <a:off x="6193950" y="2079150"/>
            <a:ext cx="5466100" cy="40597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0"/>
          <p:cNvPicPr preferRelativeResize="0"/>
          <p:nvPr/>
        </p:nvPicPr>
        <p:blipFill>
          <a:blip r:embed="rId3">
            <a:alphaModFix/>
          </a:blip>
          <a:stretch>
            <a:fillRect/>
          </a:stretch>
        </p:blipFill>
        <p:spPr>
          <a:xfrm>
            <a:off x="220375" y="1600675"/>
            <a:ext cx="5628150" cy="4772500"/>
          </a:xfrm>
          <a:prstGeom prst="rect">
            <a:avLst/>
          </a:prstGeom>
          <a:noFill/>
          <a:ln>
            <a:noFill/>
          </a:ln>
        </p:spPr>
      </p:pic>
      <p:pic>
        <p:nvPicPr>
          <p:cNvPr id="131" name="Google Shape;131;p20"/>
          <p:cNvPicPr preferRelativeResize="0"/>
          <p:nvPr/>
        </p:nvPicPr>
        <p:blipFill>
          <a:blip r:embed="rId4">
            <a:alphaModFix/>
          </a:blip>
          <a:stretch>
            <a:fillRect/>
          </a:stretch>
        </p:blipFill>
        <p:spPr>
          <a:xfrm>
            <a:off x="6309925" y="1418550"/>
            <a:ext cx="5294374" cy="4772500"/>
          </a:xfrm>
          <a:prstGeom prst="rect">
            <a:avLst/>
          </a:prstGeom>
          <a:noFill/>
          <a:ln>
            <a:noFill/>
          </a:ln>
        </p:spPr>
      </p:pic>
      <p:sp>
        <p:nvSpPr>
          <p:cNvPr descr="$PPTXTitle" id="132" name="Google Shape;132;p20"/>
          <p:cNvSpPr txBox="1"/>
          <p:nvPr>
            <p:ph type="title"/>
          </p:nvPr>
        </p:nvSpPr>
        <p:spPr>
          <a:xfrm>
            <a:off x="4572000" y="304800"/>
            <a:ext cx="2670900" cy="6285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4000"/>
              <a:t>RESULTS</a:t>
            </a:r>
            <a:endParaRPr sz="4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1"/>
          <p:cNvPicPr preferRelativeResize="0"/>
          <p:nvPr/>
        </p:nvPicPr>
        <p:blipFill>
          <a:blip r:embed="rId3">
            <a:alphaModFix/>
          </a:blip>
          <a:stretch>
            <a:fillRect/>
          </a:stretch>
        </p:blipFill>
        <p:spPr>
          <a:xfrm>
            <a:off x="152400" y="1914525"/>
            <a:ext cx="12192000" cy="3963350"/>
          </a:xfrm>
          <a:prstGeom prst="rect">
            <a:avLst/>
          </a:prstGeom>
          <a:noFill/>
          <a:ln>
            <a:noFill/>
          </a:ln>
        </p:spPr>
      </p:pic>
      <p:sp>
        <p:nvSpPr>
          <p:cNvPr descr="$PPTXTitle" id="138" name="Google Shape;138;p21"/>
          <p:cNvSpPr txBox="1"/>
          <p:nvPr>
            <p:ph type="title"/>
          </p:nvPr>
        </p:nvSpPr>
        <p:spPr>
          <a:xfrm>
            <a:off x="4572000" y="304800"/>
            <a:ext cx="2670900" cy="6285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4000"/>
              <a:t>RESULTS</a:t>
            </a:r>
            <a:endParaRPr sz="4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2"/>
          <p:cNvPicPr preferRelativeResize="0"/>
          <p:nvPr/>
        </p:nvPicPr>
        <p:blipFill>
          <a:blip r:embed="rId3">
            <a:alphaModFix/>
          </a:blip>
          <a:stretch>
            <a:fillRect/>
          </a:stretch>
        </p:blipFill>
        <p:spPr>
          <a:xfrm>
            <a:off x="185275" y="1219350"/>
            <a:ext cx="5638650" cy="5638650"/>
          </a:xfrm>
          <a:prstGeom prst="rect">
            <a:avLst/>
          </a:prstGeom>
          <a:noFill/>
          <a:ln>
            <a:noFill/>
          </a:ln>
        </p:spPr>
      </p:pic>
      <p:pic>
        <p:nvPicPr>
          <p:cNvPr id="144" name="Google Shape;144;p22"/>
          <p:cNvPicPr preferRelativeResize="0"/>
          <p:nvPr/>
        </p:nvPicPr>
        <p:blipFill>
          <a:blip r:embed="rId4">
            <a:alphaModFix/>
          </a:blip>
          <a:stretch>
            <a:fillRect/>
          </a:stretch>
        </p:blipFill>
        <p:spPr>
          <a:xfrm>
            <a:off x="5734525" y="1313425"/>
            <a:ext cx="6543675" cy="5257800"/>
          </a:xfrm>
          <a:prstGeom prst="rect">
            <a:avLst/>
          </a:prstGeom>
          <a:noFill/>
          <a:ln>
            <a:noFill/>
          </a:ln>
        </p:spPr>
      </p:pic>
      <p:sp>
        <p:nvSpPr>
          <p:cNvPr descr="$PPTXTitle" id="145" name="Google Shape;145;p22"/>
          <p:cNvSpPr txBox="1"/>
          <p:nvPr>
            <p:ph type="title"/>
          </p:nvPr>
        </p:nvSpPr>
        <p:spPr>
          <a:xfrm>
            <a:off x="4572000" y="304800"/>
            <a:ext cx="2670900" cy="6285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4000"/>
              <a:t>RESULTS</a:t>
            </a:r>
            <a:endParaRPr sz="4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3"/>
          <p:cNvPicPr preferRelativeResize="0"/>
          <p:nvPr/>
        </p:nvPicPr>
        <p:blipFill>
          <a:blip r:embed="rId3">
            <a:alphaModFix/>
          </a:blip>
          <a:stretch>
            <a:fillRect/>
          </a:stretch>
        </p:blipFill>
        <p:spPr>
          <a:xfrm>
            <a:off x="137900" y="1483575"/>
            <a:ext cx="5715000" cy="4762500"/>
          </a:xfrm>
          <a:prstGeom prst="rect">
            <a:avLst/>
          </a:prstGeom>
          <a:noFill/>
          <a:ln>
            <a:noFill/>
          </a:ln>
        </p:spPr>
      </p:pic>
      <p:pic>
        <p:nvPicPr>
          <p:cNvPr id="151" name="Google Shape;151;p23"/>
          <p:cNvPicPr preferRelativeResize="0"/>
          <p:nvPr/>
        </p:nvPicPr>
        <p:blipFill>
          <a:blip r:embed="rId4">
            <a:alphaModFix/>
          </a:blip>
          <a:stretch>
            <a:fillRect/>
          </a:stretch>
        </p:blipFill>
        <p:spPr>
          <a:xfrm>
            <a:off x="6005300" y="1571675"/>
            <a:ext cx="6019800" cy="4299175"/>
          </a:xfrm>
          <a:prstGeom prst="rect">
            <a:avLst/>
          </a:prstGeom>
          <a:noFill/>
          <a:ln>
            <a:noFill/>
          </a:ln>
        </p:spPr>
      </p:pic>
      <p:sp>
        <p:nvSpPr>
          <p:cNvPr descr="$PPTXTitle" id="152" name="Google Shape;152;p23"/>
          <p:cNvSpPr txBox="1"/>
          <p:nvPr>
            <p:ph type="title"/>
          </p:nvPr>
        </p:nvSpPr>
        <p:spPr>
          <a:xfrm>
            <a:off x="4572000" y="304800"/>
            <a:ext cx="2670900" cy="6285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4000"/>
              <a:t>RESULTS</a:t>
            </a:r>
            <a:endParaRPr sz="4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descr="$PPTXTitle" id="157" name="Google Shape;157;p24"/>
          <p:cNvSpPr txBox="1"/>
          <p:nvPr>
            <p:ph type="title"/>
          </p:nvPr>
        </p:nvSpPr>
        <p:spPr>
          <a:xfrm>
            <a:off x="4077100" y="423875"/>
            <a:ext cx="3784200" cy="628500"/>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lang="en-US" sz="4000"/>
              <a:t>CONCLUSION</a:t>
            </a:r>
            <a:endParaRPr sz="4000"/>
          </a:p>
        </p:txBody>
      </p:sp>
      <p:sp>
        <p:nvSpPr>
          <p:cNvPr id="158" name="Google Shape;158;p24"/>
          <p:cNvSpPr txBox="1"/>
          <p:nvPr/>
        </p:nvSpPr>
        <p:spPr>
          <a:xfrm>
            <a:off x="760208" y="2109898"/>
            <a:ext cx="10031700" cy="4014900"/>
          </a:xfrm>
          <a:prstGeom prst="rect">
            <a:avLst/>
          </a:prstGeom>
          <a:noFill/>
          <a:ln>
            <a:noFill/>
          </a:ln>
        </p:spPr>
        <p:txBody>
          <a:bodyPr anchorCtr="0" anchor="t" bIns="0" lIns="0" spcFirstLastPara="1" rIns="0" wrap="square" tIns="12700">
            <a:spAutoFit/>
          </a:bodyPr>
          <a:lstStyle/>
          <a:p>
            <a:pPr indent="-361950" lvl="0" marL="457200" rtl="0" algn="l">
              <a:spcBef>
                <a:spcPts val="0"/>
              </a:spcBef>
              <a:spcAft>
                <a:spcPts val="0"/>
              </a:spcAft>
              <a:buClr>
                <a:schemeClr val="dk1"/>
              </a:buClr>
              <a:buSzPts val="2100"/>
              <a:buChar char="●"/>
            </a:pPr>
            <a:r>
              <a:rPr lang="en-US" sz="2100">
                <a:solidFill>
                  <a:schemeClr val="dk1"/>
                </a:solidFill>
              </a:rPr>
              <a:t>The proposed system successfully detects </a:t>
            </a:r>
            <a:r>
              <a:rPr b="1" lang="en-US" sz="2100">
                <a:solidFill>
                  <a:schemeClr val="dk1"/>
                </a:solidFill>
              </a:rPr>
              <a:t>both cyber and physical anomalies</a:t>
            </a:r>
            <a:r>
              <a:rPr lang="en-US" sz="2100">
                <a:solidFill>
                  <a:schemeClr val="dk1"/>
                </a:solidFill>
              </a:rPr>
              <a:t> by jointly analyzing network traffic and power grid sensor data.</a:t>
            </a:r>
            <a:br>
              <a:rPr lang="en-US" sz="2100">
                <a:solidFill>
                  <a:schemeClr val="dk1"/>
                </a:solidFill>
              </a:rPr>
            </a:br>
            <a:endParaRPr sz="2100">
              <a:solidFill>
                <a:schemeClr val="dk1"/>
              </a:solidFill>
            </a:endParaRPr>
          </a:p>
          <a:p>
            <a:pPr indent="-361950" lvl="0" marL="457200" rtl="0" algn="l">
              <a:spcBef>
                <a:spcPts val="0"/>
              </a:spcBef>
              <a:spcAft>
                <a:spcPts val="0"/>
              </a:spcAft>
              <a:buClr>
                <a:schemeClr val="dk1"/>
              </a:buClr>
              <a:buSzPts val="2100"/>
              <a:buChar char="●"/>
            </a:pPr>
            <a:r>
              <a:rPr lang="en-US" sz="2100">
                <a:solidFill>
                  <a:schemeClr val="dk1"/>
                </a:solidFill>
              </a:rPr>
              <a:t>Temporal learning and ensemble-based decision fusion significantly </a:t>
            </a:r>
            <a:r>
              <a:rPr b="1" lang="en-US" sz="2100">
                <a:solidFill>
                  <a:schemeClr val="dk1"/>
                </a:solidFill>
              </a:rPr>
              <a:t>improve detection reliability</a:t>
            </a:r>
            <a:r>
              <a:rPr lang="en-US" sz="2100">
                <a:solidFill>
                  <a:schemeClr val="dk1"/>
                </a:solidFill>
              </a:rPr>
              <a:t> compared to single-model approaches.</a:t>
            </a:r>
            <a:br>
              <a:rPr lang="en-US" sz="2100">
                <a:solidFill>
                  <a:schemeClr val="dk1"/>
                </a:solidFill>
              </a:rPr>
            </a:br>
            <a:endParaRPr sz="2100">
              <a:solidFill>
                <a:schemeClr val="dk1"/>
              </a:solidFill>
            </a:endParaRPr>
          </a:p>
          <a:p>
            <a:pPr indent="-361950" lvl="0" marL="457200" rtl="0" algn="l">
              <a:spcBef>
                <a:spcPts val="0"/>
              </a:spcBef>
              <a:spcAft>
                <a:spcPts val="0"/>
              </a:spcAft>
              <a:buClr>
                <a:schemeClr val="dk1"/>
              </a:buClr>
              <a:buSzPts val="2100"/>
              <a:buChar char="●"/>
            </a:pPr>
            <a:r>
              <a:rPr lang="en-US" sz="2100">
                <a:solidFill>
                  <a:schemeClr val="dk1"/>
                </a:solidFill>
              </a:rPr>
              <a:t>Severity scoring and root-cause identification transform raw predictions into </a:t>
            </a:r>
            <a:r>
              <a:rPr b="1" lang="en-US" sz="2100">
                <a:solidFill>
                  <a:schemeClr val="dk1"/>
                </a:solidFill>
              </a:rPr>
              <a:t>actionable alerts</a:t>
            </a:r>
            <a:r>
              <a:rPr lang="en-US" sz="2100">
                <a:solidFill>
                  <a:schemeClr val="dk1"/>
                </a:solidFill>
              </a:rPr>
              <a:t> suitable for operational use.</a:t>
            </a:r>
            <a:br>
              <a:rPr lang="en-US" sz="2100">
                <a:solidFill>
                  <a:schemeClr val="dk1"/>
                </a:solidFill>
              </a:rPr>
            </a:br>
            <a:endParaRPr sz="2100">
              <a:solidFill>
                <a:schemeClr val="dk1"/>
              </a:solidFill>
            </a:endParaRPr>
          </a:p>
          <a:p>
            <a:pPr indent="-361950" lvl="0" marL="457200" rtl="0" algn="l">
              <a:spcBef>
                <a:spcPts val="0"/>
              </a:spcBef>
              <a:spcAft>
                <a:spcPts val="0"/>
              </a:spcAft>
              <a:buClr>
                <a:schemeClr val="dk1"/>
              </a:buClr>
              <a:buSzPts val="2100"/>
              <a:buChar char="●"/>
            </a:pPr>
            <a:r>
              <a:rPr lang="en-US" sz="2100">
                <a:solidFill>
                  <a:schemeClr val="dk1"/>
                </a:solidFill>
              </a:rPr>
              <a:t>The end-to-end implementation, from model training to web-based deployment, demonstrates the </a:t>
            </a:r>
            <a:r>
              <a:rPr b="1" lang="en-US" sz="2100">
                <a:solidFill>
                  <a:schemeClr val="dk1"/>
                </a:solidFill>
              </a:rPr>
              <a:t>practical feasibility</a:t>
            </a:r>
            <a:r>
              <a:rPr lang="en-US" sz="2100">
                <a:solidFill>
                  <a:schemeClr val="dk1"/>
                </a:solidFill>
              </a:rPr>
              <a:t> of cyber-physical anomaly monitoring.</a:t>
            </a:r>
            <a:endParaRPr sz="2100">
              <a:solidFill>
                <a:schemeClr val="dk1"/>
              </a:solidFill>
            </a:endParaRPr>
          </a:p>
          <a:p>
            <a:pPr indent="0" lvl="0" marL="457200" rtl="0" algn="l">
              <a:lnSpc>
                <a:spcPct val="100000"/>
              </a:lnSpc>
              <a:spcBef>
                <a:spcPts val="0"/>
              </a:spcBef>
              <a:spcAft>
                <a:spcPts val="0"/>
              </a:spcAft>
              <a:buNone/>
            </a:pPr>
            <a:r>
              <a:t/>
            </a:r>
            <a:endParaRPr sz="2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idx="1" type="body"/>
          </p:nvPr>
        </p:nvSpPr>
        <p:spPr>
          <a:xfrm>
            <a:off x="832708" y="1153039"/>
            <a:ext cx="11059800" cy="5640300"/>
          </a:xfrm>
          <a:prstGeom prst="rect">
            <a:avLst/>
          </a:prstGeom>
          <a:noFill/>
          <a:ln>
            <a:noFill/>
          </a:ln>
        </p:spPr>
        <p:txBody>
          <a:bodyPr anchorCtr="0" anchor="t" bIns="0" lIns="0" spcFirstLastPara="1" rIns="0" wrap="square" tIns="12700">
            <a:spAutoFit/>
          </a:bodyPr>
          <a:lstStyle/>
          <a:p>
            <a:pPr indent="-330200" lvl="0" marL="457200" marR="73660" rtl="0" algn="l">
              <a:lnSpc>
                <a:spcPct val="114999"/>
              </a:lnSpc>
              <a:spcBef>
                <a:spcPts val="0"/>
              </a:spcBef>
              <a:spcAft>
                <a:spcPts val="0"/>
              </a:spcAft>
              <a:buClr>
                <a:srgbClr val="333333"/>
              </a:buClr>
              <a:buSzPts val="1600"/>
              <a:buChar char="●"/>
            </a:pPr>
            <a:r>
              <a:rPr lang="en-US" sz="1600">
                <a:solidFill>
                  <a:srgbClr val="333333"/>
                </a:solidFill>
                <a:highlight>
                  <a:srgbClr val="FFFFFF"/>
                </a:highlight>
              </a:rPr>
              <a:t>T. Yin, S. A. R. Naqvi, S. P. Nandanoori and S. Kundu, "Advancing Cyber-Attack Detection in Power Systems: A Comparative Study of Machine Learning and Graph Neural Network Approaches," 2024 Resilience Week (RWS), Austin, TX, USA, 2024</a:t>
            </a:r>
            <a:endParaRPr sz="1600">
              <a:solidFill>
                <a:srgbClr val="333333"/>
              </a:solidFill>
              <a:highlight>
                <a:srgbClr val="FFFFFF"/>
              </a:highlight>
            </a:endParaRPr>
          </a:p>
          <a:p>
            <a:pPr indent="-330200" lvl="0" marL="457200" marR="73660" rtl="0" algn="l">
              <a:lnSpc>
                <a:spcPct val="114999"/>
              </a:lnSpc>
              <a:spcBef>
                <a:spcPts val="0"/>
              </a:spcBef>
              <a:spcAft>
                <a:spcPts val="0"/>
              </a:spcAft>
              <a:buClr>
                <a:srgbClr val="333333"/>
              </a:buClr>
              <a:buSzPts val="1600"/>
              <a:buChar char="●"/>
            </a:pPr>
            <a:r>
              <a:rPr lang="en-US" sz="1600">
                <a:solidFill>
                  <a:srgbClr val="333333"/>
                </a:solidFill>
                <a:highlight>
                  <a:srgbClr val="FFFFFF"/>
                </a:highlight>
              </a:rPr>
              <a:t>Y. Xu, "A Review of Cyber Security Risks of Power Systems: From Static to Dynamic False Data Attacks," in Protection and Control of Modern Power Systems, vol. 5, no. 3, pp. 1-12, July 2020</a:t>
            </a:r>
            <a:endParaRPr sz="1600">
              <a:solidFill>
                <a:srgbClr val="333333"/>
              </a:solidFill>
              <a:highlight>
                <a:srgbClr val="FFFFFF"/>
              </a:highlight>
            </a:endParaRPr>
          </a:p>
          <a:p>
            <a:pPr indent="-330200" lvl="0" marL="457200" marR="73660" rtl="0" algn="l">
              <a:lnSpc>
                <a:spcPct val="114999"/>
              </a:lnSpc>
              <a:spcBef>
                <a:spcPts val="0"/>
              </a:spcBef>
              <a:spcAft>
                <a:spcPts val="0"/>
              </a:spcAft>
              <a:buClr>
                <a:srgbClr val="333333"/>
              </a:buClr>
              <a:buSzPts val="1600"/>
              <a:buChar char="●"/>
            </a:pPr>
            <a:r>
              <a:rPr lang="en-US" sz="1600">
                <a:solidFill>
                  <a:srgbClr val="333333"/>
                </a:solidFill>
                <a:highlight>
                  <a:srgbClr val="FFFFFF"/>
                </a:highlight>
              </a:rPr>
              <a:t>G. Liang, J. Zhao, F. Luo, S. R. Weller and Z. Y. Dong, "A Review of False Data Injection Attacks Against Modern Power Systems," in IEEE Transactions on Smart Grid, vol. 8, no. 4, pp. 1630-1638, July 2017</a:t>
            </a:r>
            <a:endParaRPr sz="1600">
              <a:solidFill>
                <a:srgbClr val="333333"/>
              </a:solidFill>
              <a:highlight>
                <a:srgbClr val="FFFFFF"/>
              </a:highlight>
            </a:endParaRPr>
          </a:p>
          <a:p>
            <a:pPr indent="-330200" lvl="0" marL="457200" marR="73660" rtl="0" algn="l">
              <a:lnSpc>
                <a:spcPct val="114999"/>
              </a:lnSpc>
              <a:spcBef>
                <a:spcPts val="0"/>
              </a:spcBef>
              <a:spcAft>
                <a:spcPts val="0"/>
              </a:spcAft>
              <a:buClr>
                <a:srgbClr val="333333"/>
              </a:buClr>
              <a:buSzPts val="1600"/>
              <a:buChar char="●"/>
            </a:pPr>
            <a:r>
              <a:rPr lang="en-US" sz="1600">
                <a:solidFill>
                  <a:srgbClr val="333333"/>
                </a:solidFill>
                <a:highlight>
                  <a:srgbClr val="FFFFFF"/>
                </a:highlight>
              </a:rPr>
              <a:t>O. A. Beg, L. V. Nguyen, T. T. Johnson and A. Davoudi, "Cyber-Physical Anomaly Detection in Microgrids Using Time-Frequency Logic Formalism," in IEEE Access, vol. 9, pp. 20012-20021, 2021,</a:t>
            </a:r>
            <a:endParaRPr sz="1600">
              <a:solidFill>
                <a:srgbClr val="333333"/>
              </a:solidFill>
              <a:highlight>
                <a:srgbClr val="FFFFFF"/>
              </a:highlight>
            </a:endParaRPr>
          </a:p>
          <a:p>
            <a:pPr indent="-330200" lvl="0" marL="457200" marR="73660" rtl="0" algn="l">
              <a:lnSpc>
                <a:spcPct val="114999"/>
              </a:lnSpc>
              <a:spcBef>
                <a:spcPts val="0"/>
              </a:spcBef>
              <a:spcAft>
                <a:spcPts val="0"/>
              </a:spcAft>
              <a:buClr>
                <a:srgbClr val="333333"/>
              </a:buClr>
              <a:buSzPts val="1600"/>
              <a:buChar char="●"/>
            </a:pPr>
            <a:r>
              <a:rPr lang="en-US" sz="1600">
                <a:solidFill>
                  <a:srgbClr val="333333"/>
                </a:solidFill>
                <a:highlight>
                  <a:srgbClr val="FFFFFF"/>
                </a:highlight>
              </a:rPr>
              <a:t>A. Ameli, A. Ayad, E. F. El-Saadany, M. M. A. Salama and A. Youssef, "A Learning-Based Framework for Detecting Cyber-Attacks Against Line Current Differential Relays," in IEEE Transactions on Power Delivery, vol. 36, no. 4, pp. 2274-2286, Aug. 2021</a:t>
            </a:r>
            <a:endParaRPr sz="1600">
              <a:solidFill>
                <a:srgbClr val="333333"/>
              </a:solidFill>
              <a:highlight>
                <a:srgbClr val="FFFFFF"/>
              </a:highlight>
            </a:endParaRPr>
          </a:p>
          <a:p>
            <a:pPr indent="-330200" lvl="0" marL="457200" marR="73660" rtl="0" algn="l">
              <a:lnSpc>
                <a:spcPct val="114999"/>
              </a:lnSpc>
              <a:spcBef>
                <a:spcPts val="0"/>
              </a:spcBef>
              <a:spcAft>
                <a:spcPts val="0"/>
              </a:spcAft>
              <a:buClr>
                <a:srgbClr val="333333"/>
              </a:buClr>
              <a:buSzPts val="1600"/>
              <a:buChar char="●"/>
            </a:pPr>
            <a:r>
              <a:rPr lang="en-US" sz="1600">
                <a:solidFill>
                  <a:srgbClr val="333333"/>
                </a:solidFill>
                <a:highlight>
                  <a:srgbClr val="FFFFFF"/>
                </a:highlight>
              </a:rPr>
              <a:t>N. K. Son, A. Kumar Sangaiah, D. V. Medhane, M. J. F. Alenazi and S. A. AlQahtani, "Enhancing Smart Grid Security: An Data-Driven Anomaly Detection Framework," 2024 IEEE Conference on Communications and Network Security (CNS), Taipei, Taiwan, 2024</a:t>
            </a:r>
            <a:endParaRPr sz="1600">
              <a:solidFill>
                <a:srgbClr val="333333"/>
              </a:solidFill>
              <a:highlight>
                <a:srgbClr val="FFFFFF"/>
              </a:highlight>
            </a:endParaRPr>
          </a:p>
          <a:p>
            <a:pPr indent="-330200" lvl="0" marL="457200" marR="73660" rtl="0" algn="l">
              <a:lnSpc>
                <a:spcPct val="114999"/>
              </a:lnSpc>
              <a:spcBef>
                <a:spcPts val="0"/>
              </a:spcBef>
              <a:spcAft>
                <a:spcPts val="0"/>
              </a:spcAft>
              <a:buClr>
                <a:srgbClr val="333333"/>
              </a:buClr>
              <a:buSzPts val="1600"/>
              <a:buChar char="●"/>
            </a:pPr>
            <a:r>
              <a:rPr lang="en-US" sz="1600">
                <a:solidFill>
                  <a:srgbClr val="333333"/>
                </a:solidFill>
                <a:highlight>
                  <a:srgbClr val="FFFFFF"/>
                </a:highlight>
              </a:rPr>
              <a:t>D. M K and V. Ebenezer, "A Comprehensive Review of Machine Learning and Deep Learning-Based Intrusion Detection Systems," 2025 First International Conference on Intelligent Computing and Communication Systems (CICCS), Bengaluru, India, 2025</a:t>
            </a:r>
            <a:endParaRPr sz="1600">
              <a:solidFill>
                <a:srgbClr val="333333"/>
              </a:solidFill>
              <a:highlight>
                <a:srgbClr val="FFFFFF"/>
              </a:highlight>
            </a:endParaRPr>
          </a:p>
          <a:p>
            <a:pPr indent="0" lvl="0" marL="457200" marR="73660" rtl="0" algn="l">
              <a:lnSpc>
                <a:spcPct val="114999"/>
              </a:lnSpc>
              <a:spcBef>
                <a:spcPts val="0"/>
              </a:spcBef>
              <a:spcAft>
                <a:spcPts val="0"/>
              </a:spcAft>
              <a:buNone/>
            </a:pPr>
            <a:r>
              <a:t/>
            </a:r>
            <a:endParaRPr sz="1600">
              <a:solidFill>
                <a:srgbClr val="333333"/>
              </a:solidFill>
              <a:highlight>
                <a:srgbClr val="FFFFFF"/>
              </a:highlight>
            </a:endParaRPr>
          </a:p>
          <a:p>
            <a:pPr indent="0" lvl="0" marL="0" marR="73660" rtl="0" algn="l">
              <a:lnSpc>
                <a:spcPct val="114999"/>
              </a:lnSpc>
              <a:spcBef>
                <a:spcPts val="0"/>
              </a:spcBef>
              <a:spcAft>
                <a:spcPts val="0"/>
              </a:spcAft>
              <a:buNone/>
            </a:pPr>
            <a:r>
              <a:t/>
            </a:r>
            <a:endParaRPr sz="1600">
              <a:solidFill>
                <a:srgbClr val="333333"/>
              </a:solidFill>
              <a:highlight>
                <a:srgbClr val="FFFFFF"/>
              </a:highlight>
            </a:endParaRPr>
          </a:p>
        </p:txBody>
      </p:sp>
      <p:sp>
        <p:nvSpPr>
          <p:cNvPr descr="$PPTXTitle" id="164" name="Google Shape;164;p25"/>
          <p:cNvSpPr txBox="1"/>
          <p:nvPr>
            <p:ph type="title"/>
          </p:nvPr>
        </p:nvSpPr>
        <p:spPr>
          <a:xfrm>
            <a:off x="4361100" y="264375"/>
            <a:ext cx="3469800" cy="613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900"/>
              <a:t>REFERENCES</a:t>
            </a:r>
            <a:endParaRPr sz="3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descr="$PPTXTitle" id="169" name="Google Shape;169;p26"/>
          <p:cNvSpPr txBox="1"/>
          <p:nvPr>
            <p:ph type="title"/>
          </p:nvPr>
        </p:nvSpPr>
        <p:spPr>
          <a:xfrm>
            <a:off x="4290175" y="496375"/>
            <a:ext cx="3469800" cy="613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900"/>
              <a:t>REFERENCES</a:t>
            </a:r>
            <a:endParaRPr sz="3900"/>
          </a:p>
        </p:txBody>
      </p:sp>
      <p:sp>
        <p:nvSpPr>
          <p:cNvPr id="170" name="Google Shape;170;p26"/>
          <p:cNvSpPr txBox="1"/>
          <p:nvPr>
            <p:ph idx="1" type="body"/>
          </p:nvPr>
        </p:nvSpPr>
        <p:spPr>
          <a:xfrm>
            <a:off x="644208" y="2080964"/>
            <a:ext cx="11059800" cy="4491900"/>
          </a:xfrm>
          <a:prstGeom prst="rect">
            <a:avLst/>
          </a:prstGeom>
          <a:noFill/>
          <a:ln>
            <a:noFill/>
          </a:ln>
        </p:spPr>
        <p:txBody>
          <a:bodyPr anchorCtr="0" anchor="t" bIns="0" lIns="0" spcFirstLastPara="1" rIns="0" wrap="square" tIns="12700">
            <a:spAutoFit/>
          </a:bodyPr>
          <a:lstStyle/>
          <a:p>
            <a:pPr indent="-323850" lvl="0" marL="457200" marR="73660" rtl="0" algn="l">
              <a:lnSpc>
                <a:spcPct val="114999"/>
              </a:lnSpc>
              <a:spcBef>
                <a:spcPts val="0"/>
              </a:spcBef>
              <a:spcAft>
                <a:spcPts val="0"/>
              </a:spcAft>
              <a:buClr>
                <a:srgbClr val="333333"/>
              </a:buClr>
              <a:buSzPts val="1500"/>
              <a:buChar char="●"/>
            </a:pPr>
            <a:r>
              <a:rPr lang="en-US" sz="1500">
                <a:solidFill>
                  <a:srgbClr val="333333"/>
                </a:solidFill>
                <a:highlight>
                  <a:srgbClr val="FFFFFF"/>
                </a:highlight>
              </a:rPr>
              <a:t>S. Jialing, J. Xuechun, G. Shang, K. Yanru, L. Hao and L. Yingying, "A Method of Abnormal Detection for Power Grid Control System Metrics Based on AI Platform," 2024 IEEE 8th Conference on Energy Internet and Energy System Integration (EI2), Shenyang, China, 2024,</a:t>
            </a:r>
            <a:endParaRPr sz="1500">
              <a:solidFill>
                <a:srgbClr val="333333"/>
              </a:solidFill>
              <a:highlight>
                <a:srgbClr val="FFFFFF"/>
              </a:highlight>
            </a:endParaRPr>
          </a:p>
          <a:p>
            <a:pPr indent="-323850" lvl="0" marL="457200" marR="73660" rtl="0" algn="l">
              <a:lnSpc>
                <a:spcPct val="114999"/>
              </a:lnSpc>
              <a:spcBef>
                <a:spcPts val="0"/>
              </a:spcBef>
              <a:spcAft>
                <a:spcPts val="0"/>
              </a:spcAft>
              <a:buClr>
                <a:srgbClr val="333333"/>
              </a:buClr>
              <a:buSzPts val="1500"/>
              <a:buChar char="●"/>
            </a:pPr>
            <a:r>
              <a:rPr lang="en-US" sz="1500">
                <a:solidFill>
                  <a:srgbClr val="333333"/>
                </a:solidFill>
                <a:highlight>
                  <a:srgbClr val="FFFFFF"/>
                </a:highlight>
              </a:rPr>
              <a:t>S. Li, A. Pandey, B. Hooi, C. Faloutsos and L. Pileggi, "Dynamic Graph-Based Anomaly Detection in the Electrical Grid," in IEEE Transactions on Power Systems, vol. 37, no. 5, pp. 3408-3422, Sept. 2022</a:t>
            </a:r>
            <a:endParaRPr sz="1500">
              <a:solidFill>
                <a:srgbClr val="333333"/>
              </a:solidFill>
              <a:highlight>
                <a:srgbClr val="FFFFFF"/>
              </a:highlight>
            </a:endParaRPr>
          </a:p>
          <a:p>
            <a:pPr indent="-323850" lvl="0" marL="457200" marR="73660" rtl="0" algn="l">
              <a:lnSpc>
                <a:spcPct val="114999"/>
              </a:lnSpc>
              <a:spcBef>
                <a:spcPts val="0"/>
              </a:spcBef>
              <a:spcAft>
                <a:spcPts val="0"/>
              </a:spcAft>
              <a:buClr>
                <a:srgbClr val="333333"/>
              </a:buClr>
              <a:buSzPts val="1500"/>
              <a:buChar char="●"/>
            </a:pPr>
            <a:r>
              <a:rPr lang="en-US" sz="1500">
                <a:solidFill>
                  <a:srgbClr val="333333"/>
                </a:solidFill>
                <a:highlight>
                  <a:srgbClr val="FFFFFF"/>
                </a:highlight>
              </a:rPr>
              <a:t>T. Das, S. Rath and S. Sengupta, "Telling Apart: ML Framework Towards Cyber Attack and Fault Differentiation in Microgrids," 2024 IEEE 7th International Conference on Industrial Cyber-Physical Systems (ICPS), St. Louis, MO, USA, 2024,</a:t>
            </a:r>
            <a:endParaRPr sz="1500">
              <a:solidFill>
                <a:srgbClr val="333333"/>
              </a:solidFill>
              <a:highlight>
                <a:srgbClr val="FFFFFF"/>
              </a:highlight>
            </a:endParaRPr>
          </a:p>
          <a:p>
            <a:pPr indent="-323850" lvl="0" marL="457200" marR="73660" rtl="0" algn="l">
              <a:lnSpc>
                <a:spcPct val="114999"/>
              </a:lnSpc>
              <a:spcBef>
                <a:spcPts val="0"/>
              </a:spcBef>
              <a:spcAft>
                <a:spcPts val="0"/>
              </a:spcAft>
              <a:buClr>
                <a:srgbClr val="333333"/>
              </a:buClr>
              <a:buSzPts val="1500"/>
              <a:buChar char="●"/>
            </a:pPr>
            <a:r>
              <a:rPr lang="en-US" sz="1500">
                <a:solidFill>
                  <a:srgbClr val="333333"/>
                </a:solidFill>
                <a:highlight>
                  <a:srgbClr val="FFFFFF"/>
                </a:highlight>
              </a:rPr>
              <a:t>A. A. Khalif et al., "Enhancing Smart Grid Security with Machine Learning: A Comparative Study of Supervised and Unsupervised Techniques," 2025 International Conference on New Trends in Computing Sciences (ICTCS), Amman, Jordan, 2025</a:t>
            </a:r>
            <a:endParaRPr sz="1500">
              <a:solidFill>
                <a:srgbClr val="333333"/>
              </a:solidFill>
              <a:highlight>
                <a:srgbClr val="FFFFFF"/>
              </a:highlight>
            </a:endParaRPr>
          </a:p>
          <a:p>
            <a:pPr indent="-323850" lvl="0" marL="457200" marR="73660" rtl="0" algn="l">
              <a:lnSpc>
                <a:spcPct val="114999"/>
              </a:lnSpc>
              <a:spcBef>
                <a:spcPts val="0"/>
              </a:spcBef>
              <a:spcAft>
                <a:spcPts val="0"/>
              </a:spcAft>
              <a:buClr>
                <a:srgbClr val="333333"/>
              </a:buClr>
              <a:buSzPts val="1500"/>
              <a:buChar char="●"/>
            </a:pPr>
            <a:r>
              <a:rPr lang="en-US" sz="1500">
                <a:solidFill>
                  <a:srgbClr val="333333"/>
                </a:solidFill>
                <a:highlight>
                  <a:srgbClr val="FFFFFF"/>
                </a:highlight>
              </a:rPr>
              <a:t>T. Choi, Y. Wu and R. K. L. Ko, "Hybrid AI Anomaly Detection for Smart-Grid Electricity Theft," 2025 IEEE PES 35th Australasian Universities Power Engineering Conference (AUPEC), Brisbane, Australia, 2025</a:t>
            </a:r>
            <a:endParaRPr sz="1500">
              <a:solidFill>
                <a:srgbClr val="333333"/>
              </a:solidFill>
              <a:highlight>
                <a:srgbClr val="FFFFFF"/>
              </a:highlight>
            </a:endParaRPr>
          </a:p>
          <a:p>
            <a:pPr indent="-323850" lvl="0" marL="457200" marR="73660" rtl="0" algn="l">
              <a:lnSpc>
                <a:spcPct val="114999"/>
              </a:lnSpc>
              <a:spcBef>
                <a:spcPts val="0"/>
              </a:spcBef>
              <a:spcAft>
                <a:spcPts val="0"/>
              </a:spcAft>
              <a:buClr>
                <a:srgbClr val="333333"/>
              </a:buClr>
              <a:buSzPts val="1500"/>
              <a:buChar char="●"/>
            </a:pPr>
            <a:r>
              <a:rPr lang="en-US" sz="1500">
                <a:solidFill>
                  <a:srgbClr val="333333"/>
                </a:solidFill>
                <a:highlight>
                  <a:srgbClr val="FFFFFF"/>
                </a:highlight>
              </a:rPr>
              <a:t>S. S. Bhanu, V. S. Kumar, K. H. Krishna, A. R. Reddy, B. V. S. Reddy and P. M. Khan, "Adaptive Cyber Attack Detection in Distribution Systems using Machine Learning and Spatiotemporal Patterns," 2025 International Conference on Intelligent Computing and Control Systems (ICICCS), Erode, India, 2025</a:t>
            </a:r>
            <a:endParaRPr sz="1500">
              <a:solidFill>
                <a:srgbClr val="333333"/>
              </a:solidFill>
              <a:highlight>
                <a:srgbClr val="FFFFFF"/>
              </a:highlight>
            </a:endParaRPr>
          </a:p>
          <a:p>
            <a:pPr indent="0" lvl="0" marL="457200" marR="73660" rtl="0" algn="l">
              <a:lnSpc>
                <a:spcPct val="114999"/>
              </a:lnSpc>
              <a:spcBef>
                <a:spcPts val="0"/>
              </a:spcBef>
              <a:spcAft>
                <a:spcPts val="0"/>
              </a:spcAft>
              <a:buNone/>
            </a:pPr>
            <a:r>
              <a:t/>
            </a:r>
            <a:endParaRPr sz="1500">
              <a:solidFill>
                <a:srgbClr val="333333"/>
              </a:solidFill>
              <a:highlight>
                <a:srgbClr val="FFFFFF"/>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idx="1" type="body"/>
          </p:nvPr>
        </p:nvSpPr>
        <p:spPr>
          <a:xfrm>
            <a:off x="566108" y="1761989"/>
            <a:ext cx="11059800" cy="4936800"/>
          </a:xfrm>
          <a:prstGeom prst="rect">
            <a:avLst/>
          </a:prstGeom>
          <a:noFill/>
          <a:ln>
            <a:noFill/>
          </a:ln>
        </p:spPr>
        <p:txBody>
          <a:bodyPr anchorCtr="0" anchor="t" bIns="0" lIns="0" spcFirstLastPara="1" rIns="0" wrap="square" tIns="12700">
            <a:spAutoFit/>
          </a:bodyPr>
          <a:lstStyle/>
          <a:p>
            <a:pPr indent="-317500" lvl="0" marL="457200" marR="73660" rtl="0" algn="l">
              <a:lnSpc>
                <a:spcPct val="114999"/>
              </a:lnSpc>
              <a:spcBef>
                <a:spcPts val="0"/>
              </a:spcBef>
              <a:spcAft>
                <a:spcPts val="0"/>
              </a:spcAft>
              <a:buClr>
                <a:srgbClr val="333333"/>
              </a:buClr>
              <a:buSzPts val="1400"/>
              <a:buChar char="●"/>
            </a:pPr>
            <a:r>
              <a:rPr lang="en-US" sz="1400">
                <a:solidFill>
                  <a:srgbClr val="333333"/>
                </a:solidFill>
                <a:highlight>
                  <a:srgbClr val="FFFFFF"/>
                </a:highlight>
              </a:rPr>
              <a:t>T. Ige, C. Kiekintveld and A. Piplai, "An Investigation into the Performances of the State-of-the-art Machine Learning Approaches for Various Cyber-attack Detection: A Survey," 2024 IEEE International Conference on Electro Information Technology (eIT), Eau Claire, WI, USA, 2024</a:t>
            </a:r>
            <a:endParaRPr sz="1400">
              <a:solidFill>
                <a:srgbClr val="333333"/>
              </a:solidFill>
              <a:highlight>
                <a:srgbClr val="FFFFFF"/>
              </a:highlight>
            </a:endParaRPr>
          </a:p>
          <a:p>
            <a:pPr indent="-317500" lvl="0" marL="457200" marR="73660" rtl="0" algn="l">
              <a:lnSpc>
                <a:spcPct val="114999"/>
              </a:lnSpc>
              <a:spcBef>
                <a:spcPts val="0"/>
              </a:spcBef>
              <a:spcAft>
                <a:spcPts val="0"/>
              </a:spcAft>
              <a:buClr>
                <a:srgbClr val="333333"/>
              </a:buClr>
              <a:buSzPts val="1400"/>
              <a:buChar char="●"/>
            </a:pPr>
            <a:r>
              <a:rPr lang="en-US" sz="1400">
                <a:solidFill>
                  <a:srgbClr val="333333"/>
                </a:solidFill>
                <a:highlight>
                  <a:srgbClr val="FFFFFF"/>
                </a:highlight>
              </a:rPr>
              <a:t>S. Sankar, R. Dutta and S. Karmakar, "Cyber Threat Prediction and Assessment with Machine Learning Approaches," 2024 IEEE 21st India Council International Conference (INDICON), Kharagpur, India, 2024</a:t>
            </a:r>
            <a:endParaRPr sz="1400">
              <a:solidFill>
                <a:srgbClr val="333333"/>
              </a:solidFill>
              <a:highlight>
                <a:srgbClr val="FFFFFF"/>
              </a:highlight>
            </a:endParaRPr>
          </a:p>
          <a:p>
            <a:pPr indent="-317500" lvl="0" marL="457200" marR="73660" rtl="0" algn="l">
              <a:lnSpc>
                <a:spcPct val="114999"/>
              </a:lnSpc>
              <a:spcBef>
                <a:spcPts val="0"/>
              </a:spcBef>
              <a:spcAft>
                <a:spcPts val="0"/>
              </a:spcAft>
              <a:buClr>
                <a:srgbClr val="333333"/>
              </a:buClr>
              <a:buSzPts val="1400"/>
              <a:buChar char="●"/>
            </a:pPr>
            <a:r>
              <a:rPr lang="en-US" sz="1400">
                <a:solidFill>
                  <a:srgbClr val="333333"/>
                </a:solidFill>
                <a:highlight>
                  <a:srgbClr val="FFFFFF"/>
                </a:highlight>
              </a:rPr>
              <a:t>Y. R. Bhavyashree, M. K. Kavyashree and K. R. Amrutha, "Systematic Review on Frameworks for Intrusion Detection using Machine Learning and Deep Learning Algorithms," 2024 Second International Conference on Networks, Multimedia and Information Technology (NMITCON), Bengaluru, India, 2024</a:t>
            </a:r>
            <a:endParaRPr sz="1400">
              <a:solidFill>
                <a:srgbClr val="333333"/>
              </a:solidFill>
              <a:highlight>
                <a:srgbClr val="FFFFFF"/>
              </a:highlight>
            </a:endParaRPr>
          </a:p>
          <a:p>
            <a:pPr indent="-317500" lvl="0" marL="457200" marR="73660" rtl="0" algn="l">
              <a:lnSpc>
                <a:spcPct val="114999"/>
              </a:lnSpc>
              <a:spcBef>
                <a:spcPts val="0"/>
              </a:spcBef>
              <a:spcAft>
                <a:spcPts val="0"/>
              </a:spcAft>
              <a:buClr>
                <a:srgbClr val="333333"/>
              </a:buClr>
              <a:buSzPts val="1400"/>
              <a:buChar char="●"/>
            </a:pPr>
            <a:r>
              <a:rPr lang="en-US" sz="1400">
                <a:solidFill>
                  <a:srgbClr val="333333"/>
                </a:solidFill>
                <a:highlight>
                  <a:srgbClr val="FFFFFF"/>
                </a:highlight>
              </a:rPr>
              <a:t>M. Baptiste, F. Julien and S. Franck, "Systematic and Efficient Anomaly Detection Framework using Machine Learning on Public ICS Datasets," 2021 IEEE International Conference on Cyber Security and Resilience (CSR), Rhodes, Greece, 2021,</a:t>
            </a:r>
            <a:endParaRPr sz="1400">
              <a:solidFill>
                <a:srgbClr val="333333"/>
              </a:solidFill>
              <a:highlight>
                <a:srgbClr val="FFFFFF"/>
              </a:highlight>
            </a:endParaRPr>
          </a:p>
          <a:p>
            <a:pPr indent="-317500" lvl="0" marL="457200" marR="73660" rtl="0" algn="l">
              <a:lnSpc>
                <a:spcPct val="114999"/>
              </a:lnSpc>
              <a:spcBef>
                <a:spcPts val="0"/>
              </a:spcBef>
              <a:spcAft>
                <a:spcPts val="0"/>
              </a:spcAft>
              <a:buClr>
                <a:srgbClr val="333333"/>
              </a:buClr>
              <a:buSzPts val="1400"/>
              <a:buChar char="●"/>
            </a:pPr>
            <a:r>
              <a:rPr lang="en-US" sz="1400">
                <a:solidFill>
                  <a:srgbClr val="333333"/>
                </a:solidFill>
                <a:highlight>
                  <a:srgbClr val="FFFFFF"/>
                </a:highlight>
              </a:rPr>
              <a:t>D. M K and V. Ebenezer, "A Comprehensive Review of Machine Learning and Deep Learning-Based Intrusion Detection Systems," 2025 First International Conference on Intelligent Computing and Communication Systems (CICCS), Bengaluru, India, 2025</a:t>
            </a:r>
            <a:endParaRPr sz="1400">
              <a:solidFill>
                <a:srgbClr val="333333"/>
              </a:solidFill>
              <a:highlight>
                <a:srgbClr val="FFFFFF"/>
              </a:highlight>
            </a:endParaRPr>
          </a:p>
          <a:p>
            <a:pPr indent="-317500" lvl="0" marL="457200" marR="73660" rtl="0" algn="l">
              <a:lnSpc>
                <a:spcPct val="114999"/>
              </a:lnSpc>
              <a:spcBef>
                <a:spcPts val="0"/>
              </a:spcBef>
              <a:spcAft>
                <a:spcPts val="0"/>
              </a:spcAft>
              <a:buClr>
                <a:srgbClr val="333333"/>
              </a:buClr>
              <a:buSzPts val="1400"/>
              <a:buChar char="●"/>
            </a:pPr>
            <a:r>
              <a:rPr lang="en-US" sz="1400">
                <a:solidFill>
                  <a:srgbClr val="333333"/>
                </a:solidFill>
                <a:highlight>
                  <a:srgbClr val="FFFFFF"/>
                </a:highlight>
              </a:rPr>
              <a:t>N. Nelufule, C. Mudau, B. Nkwe, S. Chishiri, L. Mncwango and M. Mutenwa, "Cybersecurity in Smart Grids using Machine Learning: A Systematic Literature Review," 2025 6th International Conference on IoT Based Control Networks and Intelligent Systems (ICICNIS), Bengaluru, India, 2025</a:t>
            </a:r>
            <a:endParaRPr sz="1400">
              <a:solidFill>
                <a:srgbClr val="333333"/>
              </a:solidFill>
              <a:highlight>
                <a:srgbClr val="FFFFFF"/>
              </a:highlight>
            </a:endParaRPr>
          </a:p>
          <a:p>
            <a:pPr indent="-317500" lvl="0" marL="457200" marR="73660" rtl="0" algn="l">
              <a:lnSpc>
                <a:spcPct val="114999"/>
              </a:lnSpc>
              <a:spcBef>
                <a:spcPts val="0"/>
              </a:spcBef>
              <a:spcAft>
                <a:spcPts val="0"/>
              </a:spcAft>
              <a:buClr>
                <a:srgbClr val="333333"/>
              </a:buClr>
              <a:buSzPts val="1400"/>
              <a:buChar char="●"/>
            </a:pPr>
            <a:r>
              <a:rPr lang="en-US" sz="1400">
                <a:solidFill>
                  <a:srgbClr val="333333"/>
                </a:solidFill>
                <a:highlight>
                  <a:srgbClr val="FFFFFF"/>
                </a:highlight>
              </a:rPr>
              <a:t>S. Kasturi, U. Chandrashekhar, M. V. Galindo, A. B. M. Valencia, T. C. Manjunath and S. Vashishtha, "Development of an AI-Based Cybersecurity Framework for Reliable Smart Grid Energy Management," 2025 International Conference on Sustainability, Innovation &amp; Technology (ICSIT), Nagpur, India, 2025</a:t>
            </a:r>
            <a:endParaRPr sz="1400">
              <a:solidFill>
                <a:srgbClr val="333333"/>
              </a:solidFill>
              <a:highlight>
                <a:srgbClr val="FFFFFF"/>
              </a:highlight>
            </a:endParaRPr>
          </a:p>
          <a:p>
            <a:pPr indent="-317500" lvl="0" marL="457200" marR="73660" rtl="0" algn="l">
              <a:lnSpc>
                <a:spcPct val="114999"/>
              </a:lnSpc>
              <a:spcBef>
                <a:spcPts val="0"/>
              </a:spcBef>
              <a:spcAft>
                <a:spcPts val="0"/>
              </a:spcAft>
              <a:buClr>
                <a:srgbClr val="333333"/>
              </a:buClr>
              <a:buSzPts val="1400"/>
              <a:buChar char="●"/>
            </a:pPr>
            <a:r>
              <a:rPr lang="en-US" sz="1400">
                <a:solidFill>
                  <a:srgbClr val="333333"/>
                </a:solidFill>
                <a:highlight>
                  <a:srgbClr val="FFFFFF"/>
                </a:highlight>
              </a:rPr>
              <a:t>M. N. Kurt, O. Ogundijo, C. Li and X. Wang, "Online Cyber-Attack Detection in Smart Grid: A Reinforcement Learning Approach," in IEEE Transactions on Smart Grid, vol. 10, no. 5, pp. 5174-5185, Sept. 2019</a:t>
            </a:r>
            <a:endParaRPr sz="1400">
              <a:solidFill>
                <a:srgbClr val="333333"/>
              </a:solidFill>
              <a:highlight>
                <a:srgbClr val="FFFFFF"/>
              </a:highlight>
            </a:endParaRPr>
          </a:p>
        </p:txBody>
      </p:sp>
      <p:sp>
        <p:nvSpPr>
          <p:cNvPr descr="$PPTXTitle" id="176" name="Google Shape;176;p27"/>
          <p:cNvSpPr txBox="1"/>
          <p:nvPr>
            <p:ph type="title"/>
          </p:nvPr>
        </p:nvSpPr>
        <p:spPr>
          <a:xfrm>
            <a:off x="4290175" y="496375"/>
            <a:ext cx="3469800" cy="613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900"/>
              <a:t>REFERENCES</a:t>
            </a:r>
            <a:endParaRPr sz="3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